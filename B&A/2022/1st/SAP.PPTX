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0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41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A74628-8F9E-4BC3-A868-20D3D8BA7964}" v="1" dt="2021-12-21T23:54:46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126" autoAdjust="0"/>
  </p:normalViewPr>
  <p:slideViewPr>
    <p:cSldViewPr snapToGrid="0">
      <p:cViewPr varScale="1">
        <p:scale>
          <a:sx n="103" d="100"/>
          <a:sy n="103" d="100"/>
        </p:scale>
        <p:origin x="10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sunari Teramoto" userId="ff284c05-b2e6-4b2f-b0a3-c718dd2a2804" providerId="ADAL" clId="{F3A74628-8F9E-4BC3-A868-20D3D8BA7964}"/>
    <pc:docChg chg="custSel modSld">
      <pc:chgData name="Katsunari Teramoto" userId="ff284c05-b2e6-4b2f-b0a3-c718dd2a2804" providerId="ADAL" clId="{F3A74628-8F9E-4BC3-A868-20D3D8BA7964}" dt="2021-12-22T00:49:11.509" v="4041" actId="20577"/>
      <pc:docMkLst>
        <pc:docMk/>
      </pc:docMkLst>
      <pc:sldChg chg="modNotesTx">
        <pc:chgData name="Katsunari Teramoto" userId="ff284c05-b2e6-4b2f-b0a3-c718dd2a2804" providerId="ADAL" clId="{F3A74628-8F9E-4BC3-A868-20D3D8BA7964}" dt="2021-12-22T00:14:32.891" v="2147" actId="20577"/>
        <pc:sldMkLst>
          <pc:docMk/>
          <pc:sldMk cId="234738075" sldId="257"/>
        </pc:sldMkLst>
      </pc:sldChg>
      <pc:sldChg chg="modNotesTx">
        <pc:chgData name="Katsunari Teramoto" userId="ff284c05-b2e6-4b2f-b0a3-c718dd2a2804" providerId="ADAL" clId="{F3A74628-8F9E-4BC3-A868-20D3D8BA7964}" dt="2021-12-22T00:23:34.185" v="3081" actId="20577"/>
        <pc:sldMkLst>
          <pc:docMk/>
          <pc:sldMk cId="3219002391" sldId="259"/>
        </pc:sldMkLst>
      </pc:sldChg>
      <pc:sldChg chg="modNotesTx">
        <pc:chgData name="Katsunari Teramoto" userId="ff284c05-b2e6-4b2f-b0a3-c718dd2a2804" providerId="ADAL" clId="{F3A74628-8F9E-4BC3-A868-20D3D8BA7964}" dt="2021-12-22T00:40:15.475" v="3456" actId="313"/>
        <pc:sldMkLst>
          <pc:docMk/>
          <pc:sldMk cId="1338883631" sldId="260"/>
        </pc:sldMkLst>
      </pc:sldChg>
      <pc:sldChg chg="modNotesTx">
        <pc:chgData name="Katsunari Teramoto" userId="ff284c05-b2e6-4b2f-b0a3-c718dd2a2804" providerId="ADAL" clId="{F3A74628-8F9E-4BC3-A868-20D3D8BA7964}" dt="2021-12-22T00:40:07.939" v="3455" actId="20577"/>
        <pc:sldMkLst>
          <pc:docMk/>
          <pc:sldMk cId="3097345598" sldId="265"/>
        </pc:sldMkLst>
      </pc:sldChg>
      <pc:sldChg chg="modNotesTx">
        <pc:chgData name="Katsunari Teramoto" userId="ff284c05-b2e6-4b2f-b0a3-c718dd2a2804" providerId="ADAL" clId="{F3A74628-8F9E-4BC3-A868-20D3D8BA7964}" dt="2021-12-22T00:49:11.509" v="4041" actId="20577"/>
        <pc:sldMkLst>
          <pc:docMk/>
          <pc:sldMk cId="247799938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55AE3-49C6-4981-AE00-2D6A6E38AAF7}" type="datetimeFigureOut">
              <a:rPr lang="en-GB" smtClean="0"/>
              <a:t>12/05/2022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4DFB8-1BB1-432B-81C7-5AF63935B3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659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1328898">
              <a:defRPr/>
            </a:pPr>
            <a:endParaRPr kumimoji="1" lang="en-US" altLang="ja-JP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328898">
              <a:defRPr/>
            </a:pPr>
            <a:fld id="{3463D9F5-3C90-4369-9CBE-C43D848BDAB2}" type="slidenum">
              <a:rPr lang="en-US">
                <a:solidFill>
                  <a:prstClr val="black"/>
                </a:solidFill>
              </a:rPr>
              <a:pPr defTabSz="1328898">
                <a:defRPr/>
              </a:pPr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4555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333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518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937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296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663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809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668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63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198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1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5766E-3ABE-4B53-A3DE-0521FD1E33C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B52C3-54E5-4F61-B0BA-ADF9850744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935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5766E-3ABE-4B53-A3DE-0521FD1E33C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5/12/2022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B52C3-54E5-4F61-B0BA-ADF9850744A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8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/>
          <p:cNvSpPr>
            <a:spLocks noChangeArrowheads="1"/>
          </p:cNvSpPr>
          <p:nvPr/>
        </p:nvSpPr>
        <p:spPr bwMode="auto">
          <a:xfrm>
            <a:off x="101334" y="1505367"/>
            <a:ext cx="4315329" cy="4071797"/>
          </a:xfrm>
          <a:prstGeom prst="roundRect">
            <a:avLst>
              <a:gd name="adj" fmla="val 5551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>
              <a:defRPr/>
            </a:pPr>
            <a:endParaRPr lang="ja-JP" altLang="en-US" sz="1100">
              <a:solidFill>
                <a:prstClr val="black"/>
              </a:solidFill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089756" y="1315893"/>
            <a:ext cx="2305051" cy="40011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defRPr/>
            </a:pPr>
            <a:r>
              <a:rPr kumimoji="1" lang="en-US" altLang="ja-JP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ＭＳ Ｐゴシック" pitchFamily="34" charset="-128"/>
              </a:rPr>
              <a:t>◆</a:t>
            </a:r>
            <a:r>
              <a:rPr kumimoji="1" lang="en-US" altLang="ja-JP" sz="2000" dirty="0">
                <a:solidFill>
                  <a:prstClr val="white"/>
                </a:solidFill>
                <a:latin typeface="ＭＳ Ｐゴシック" pitchFamily="34" charset="-128"/>
              </a:rPr>
              <a:t>Before</a:t>
            </a:r>
          </a:p>
        </p:txBody>
      </p:sp>
      <p:sp>
        <p:nvSpPr>
          <p:cNvPr id="66" name="AutoShape 3"/>
          <p:cNvSpPr>
            <a:spLocks noChangeArrowheads="1"/>
          </p:cNvSpPr>
          <p:nvPr/>
        </p:nvSpPr>
        <p:spPr bwMode="auto">
          <a:xfrm>
            <a:off x="4514851" y="1482527"/>
            <a:ext cx="4576516" cy="4094636"/>
          </a:xfrm>
          <a:prstGeom prst="roundRect">
            <a:avLst>
              <a:gd name="adj" fmla="val 5551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>
              <a:defRPr/>
            </a:pPr>
            <a:endParaRPr lang="ja-JP" altLang="en-US" sz="1100">
              <a:solidFill>
                <a:prstClr val="black"/>
              </a:solidFill>
            </a:endParaRPr>
          </a:p>
        </p:txBody>
      </p:sp>
      <p:sp>
        <p:nvSpPr>
          <p:cNvPr id="67" name="Text Box 5"/>
          <p:cNvSpPr txBox="1">
            <a:spLocks noChangeArrowheads="1"/>
          </p:cNvSpPr>
          <p:nvPr/>
        </p:nvSpPr>
        <p:spPr bwMode="auto">
          <a:xfrm>
            <a:off x="5619750" y="1315893"/>
            <a:ext cx="2305051" cy="400110"/>
          </a:xfrm>
          <a:prstGeom prst="rect">
            <a:avLst/>
          </a:prstGeom>
          <a:solidFill>
            <a:srgbClr val="0000FF"/>
          </a:solidFill>
          <a:ln>
            <a:noFill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defRPr/>
            </a:pPr>
            <a:r>
              <a:rPr kumimoji="1" lang="en-US" altLang="ja-JP" sz="2000" dirty="0">
                <a:solidFill>
                  <a:prstClr val="whit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ＭＳ Ｐゴシック" pitchFamily="34" charset="-128"/>
              </a:rPr>
              <a:t>◆ </a:t>
            </a:r>
            <a:r>
              <a:rPr kumimoji="1" lang="en-US" altLang="ja-JP" sz="2000" dirty="0">
                <a:solidFill>
                  <a:prstClr val="white"/>
                </a:solidFill>
                <a:latin typeface="ＭＳ Ｐゴシック" pitchFamily="34" charset="-128"/>
              </a:rPr>
              <a:t>After </a:t>
            </a:r>
            <a:endParaRPr kumimoji="1" lang="en-US" altLang="ja-JP" sz="2000" dirty="0">
              <a:solidFill>
                <a:prstClr val="white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ＭＳ Ｐゴシック" pitchFamily="34" charset="-128"/>
            </a:endParaRP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C56CF688-0247-4393-B600-439F24E4C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7315" cy="424529"/>
          </a:xfrm>
          <a:prstGeom prst="rect">
            <a:avLst/>
          </a:prstGeom>
          <a:solidFill>
            <a:srgbClr val="0000B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0069" tIns="20035" rIns="40069" bIns="20035" anchor="ctr" anchorCtr="1"/>
          <a:lstStyle>
            <a:defPPr>
              <a:defRPr lang="en-US"/>
            </a:defPPr>
            <a:lvl1pPr>
              <a:lnSpc>
                <a:spcPct val="90000"/>
              </a:lnSpc>
              <a:defRPr sz="2000" b="1" cap="all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>
                <a:solidFill>
                  <a:prstClr val="white"/>
                </a:solidFill>
                <a:latin typeface="+mj-lt"/>
                <a:cs typeface="Times New Roman" panose="02020603050405020304" pitchFamily="18" charset="0"/>
              </a:rPr>
              <a:t>Reduce time to support user inventory</a:t>
            </a:r>
            <a:endParaRPr lang="en-GB" altLang="ja-JP" dirty="0">
              <a:solidFill>
                <a:prstClr val="white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08A65B3F-E5CA-49E9-BA5C-374584417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8" y="501727"/>
            <a:ext cx="9036000" cy="390641"/>
          </a:xfrm>
          <a:prstGeom prst="rect">
            <a:avLst/>
          </a:prstGeom>
          <a:gradFill rotWithShape="1">
            <a:gsLst>
              <a:gs pos="0">
                <a:srgbClr val="FFFF99"/>
              </a:gs>
              <a:gs pos="50000">
                <a:schemeClr val="bg1"/>
              </a:gs>
              <a:gs pos="100000">
                <a:srgbClr val="FFFF99"/>
              </a:gs>
            </a:gsLst>
            <a:lin ang="2700000" scaled="1"/>
          </a:gra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ja-JP" sz="1500">
                <a:solidFill>
                  <a:srgbClr val="0000FF"/>
                </a:solidFill>
                <a:latin typeface="+mj-lt"/>
                <a:cs typeface="Times New Roman" panose="02020603050405020304" pitchFamily="18" charset="0"/>
              </a:rPr>
              <a:t>Reduce time to create physical inventory number for user monthly</a:t>
            </a:r>
            <a:endParaRPr lang="en-US" altLang="ja-JP" sz="1000" dirty="0">
              <a:solidFill>
                <a:srgbClr val="0000FF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AutoShape 6">
            <a:extLst>
              <a:ext uri="{FF2B5EF4-FFF2-40B4-BE49-F238E27FC236}">
                <a16:creationId xmlns:a16="http://schemas.microsoft.com/office/drawing/2014/main" id="{3F473890-381A-44AB-A550-68C6E32A6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32" y="5676006"/>
            <a:ext cx="4362163" cy="118199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anchor="ctr"/>
          <a:lstStyle/>
          <a:p>
            <a:pPr marL="171450" indent="-171450" eaLnBrk="0" hangingPunct="0">
              <a:buFont typeface="Wingdings" panose="05000000000000000000" pitchFamily="2" charset="2"/>
              <a:buChar char="v"/>
              <a:defRPr/>
            </a:pPr>
            <a:r>
              <a:rPr lang="en-US" altLang="ja-JP" sz="1600" b="1">
                <a:solidFill>
                  <a:srgbClr val="000000"/>
                </a:solidFill>
                <a:latin typeface="+mj-lt"/>
                <a:ea typeface="Tahoma" pitchFamily="34" charset="0"/>
                <a:cs typeface="Times New Roman" panose="02020603050405020304" pitchFamily="18" charset="0"/>
              </a:rPr>
              <a:t> Execution no. time: ~ 200 time (each type)</a:t>
            </a:r>
            <a:endParaRPr lang="en-US" altLang="ja-JP" sz="1600" b="1" dirty="0">
              <a:solidFill>
                <a:srgbClr val="000000"/>
              </a:solidFill>
              <a:latin typeface="+mj-lt"/>
              <a:ea typeface="Tahoma" pitchFamily="34" charset="0"/>
              <a:cs typeface="Times New Roman" panose="02020603050405020304" pitchFamily="18" charset="0"/>
            </a:endParaRPr>
          </a:p>
          <a:p>
            <a:pPr marL="171450" indent="-171450" eaLnBrk="0" hangingPunct="0">
              <a:buFont typeface="Wingdings" panose="05000000000000000000" pitchFamily="2" charset="2"/>
              <a:buChar char="v"/>
              <a:defRPr/>
            </a:pPr>
            <a:r>
              <a:rPr lang="en-US" altLang="ja-JP" sz="1600" b="1">
                <a:solidFill>
                  <a:srgbClr val="000000"/>
                </a:solidFill>
                <a:latin typeface="+mj-lt"/>
                <a:ea typeface="Tahoma" pitchFamily="34" charset="0"/>
                <a:cs typeface="Times New Roman" panose="02020603050405020304" pitchFamily="18" charset="0"/>
              </a:rPr>
              <a:t> For all type = 200 time x </a:t>
            </a:r>
            <a:r>
              <a:rPr lang="en-US" altLang="ja-JP" sz="1600" b="1">
                <a:solidFill>
                  <a:srgbClr val="FF0000"/>
                </a:solidFill>
                <a:latin typeface="+mj-lt"/>
                <a:ea typeface="Tahoma" pitchFamily="34" charset="0"/>
                <a:cs typeface="Times New Roman" panose="02020603050405020304" pitchFamily="18" charset="0"/>
              </a:rPr>
              <a:t>3</a:t>
            </a:r>
            <a:r>
              <a:rPr lang="en-US" altLang="ja-JP" sz="1600" b="1">
                <a:solidFill>
                  <a:srgbClr val="000000"/>
                </a:solidFill>
                <a:latin typeface="+mj-lt"/>
                <a:ea typeface="Tahoma" pitchFamily="34" charset="0"/>
                <a:cs typeface="Times New Roman" panose="02020603050405020304" pitchFamily="18" charset="0"/>
              </a:rPr>
              <a:t> = 600 time</a:t>
            </a:r>
            <a:endParaRPr lang="en-US" altLang="ja-JP" sz="1600" b="1" dirty="0">
              <a:solidFill>
                <a:srgbClr val="000000"/>
              </a:solidFill>
              <a:latin typeface="+mj-lt"/>
              <a:ea typeface="Tahoma" pitchFamily="34" charset="0"/>
              <a:cs typeface="Times New Roman" panose="02020603050405020304" pitchFamily="18" charset="0"/>
            </a:endParaRPr>
          </a:p>
          <a:p>
            <a:pPr eaLnBrk="0" hangingPunct="0">
              <a:defRPr/>
            </a:pPr>
            <a:r>
              <a:rPr lang="en-US" altLang="ja-JP" sz="1600" b="1">
                <a:solidFill>
                  <a:srgbClr val="000000"/>
                </a:solidFill>
                <a:latin typeface="+mj-lt"/>
                <a:ea typeface="Tahoma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ja-JP" sz="1600" b="1">
                <a:solidFill>
                  <a:srgbClr val="000000"/>
                </a:solidFill>
                <a:latin typeface="+mj-lt"/>
                <a:ea typeface="Tahoma" pitchFamily="34" charset="0"/>
                <a:cs typeface="Times New Roman" panose="02020603050405020304" pitchFamily="18" charset="0"/>
              </a:rPr>
              <a:t>Take time: 600 time x 0.7 min = 420min</a:t>
            </a:r>
            <a:endParaRPr lang="en-US" altLang="ja-JP" sz="1600" b="1" dirty="0">
              <a:solidFill>
                <a:srgbClr val="000000"/>
              </a:solidFill>
              <a:latin typeface="+mj-lt"/>
              <a:ea typeface="Tahoma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Rectangle 59">
            <a:extLst>
              <a:ext uri="{FF2B5EF4-FFF2-40B4-BE49-F238E27FC236}">
                <a16:creationId xmlns:a16="http://schemas.microsoft.com/office/drawing/2014/main" id="{01F715B9-3734-440E-A34F-114077103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9058" y="76201"/>
            <a:ext cx="871331" cy="271155"/>
          </a:xfrm>
          <a:prstGeom prst="rect">
            <a:avLst/>
          </a:prstGeom>
          <a:solidFill>
            <a:srgbClr val="000099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vi-VN" sz="1400" b="1">
                <a:solidFill>
                  <a:srgbClr val="FFFFFF"/>
                </a:solidFill>
              </a:rPr>
              <a:t>1/1</a:t>
            </a:r>
            <a:endParaRPr lang="en-US" altLang="vi-VN" sz="1400" b="1" dirty="0">
              <a:solidFill>
                <a:srgbClr val="FFFFF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30739" y="5045123"/>
            <a:ext cx="4223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Take time to execute for each material type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auto">
          <a:xfrm>
            <a:off x="4556176" y="5658774"/>
            <a:ext cx="4601048" cy="1187532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>
            <a:lvl1pPr marL="285750" indent="-285750"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eaLnBrk="0" fontAlgn="base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v"/>
              <a:defRPr/>
            </a:pPr>
            <a:r>
              <a:rPr lang="en-US" altLang="ja-JP" sz="1600">
                <a:solidFill>
                  <a:srgbClr val="000000"/>
                </a:solidFill>
                <a:latin typeface="+mj-lt"/>
                <a:ea typeface="Tahoma" pitchFamily="34" charset="0"/>
                <a:cs typeface="Times New Roman" panose="02020603050405020304" pitchFamily="18" charset="0"/>
              </a:rPr>
              <a:t> Execution no. time: ~ 200 time </a:t>
            </a:r>
          </a:p>
          <a:p>
            <a:pPr marL="171450" indent="-171450">
              <a:buFont typeface="Wingdings" panose="05000000000000000000" pitchFamily="2" charset="2"/>
              <a:buChar char="v"/>
              <a:defRPr/>
            </a:pPr>
            <a:r>
              <a:rPr lang="en-US" altLang="ja-JP" sz="1600">
                <a:solidFill>
                  <a:srgbClr val="000000"/>
                </a:solidFill>
                <a:latin typeface="+mj-lt"/>
                <a:ea typeface="Tahoma" pitchFamily="34" charset="0"/>
                <a:cs typeface="Times New Roman" panose="02020603050405020304" pitchFamily="18" charset="0"/>
              </a:rPr>
              <a:t> For all type = 200 time x </a:t>
            </a:r>
            <a:r>
              <a:rPr lang="en-US" altLang="ja-JP" sz="1600">
                <a:solidFill>
                  <a:srgbClr val="0000CC"/>
                </a:solidFill>
                <a:latin typeface="+mj-lt"/>
                <a:ea typeface="Tahoma" pitchFamily="34" charset="0"/>
                <a:cs typeface="Times New Roman" panose="02020603050405020304" pitchFamily="18" charset="0"/>
              </a:rPr>
              <a:t>1 </a:t>
            </a:r>
            <a:r>
              <a:rPr lang="en-US" altLang="ja-JP" sz="1600">
                <a:solidFill>
                  <a:srgbClr val="000000"/>
                </a:solidFill>
                <a:latin typeface="+mj-lt"/>
                <a:ea typeface="Tahoma" pitchFamily="34" charset="0"/>
                <a:cs typeface="Times New Roman" panose="02020603050405020304" pitchFamily="18" charset="0"/>
              </a:rPr>
              <a:t>= 200 time</a:t>
            </a:r>
          </a:p>
          <a:p>
            <a:pPr>
              <a:buFont typeface="Wingdings" panose="05000000000000000000" pitchFamily="2" charset="2"/>
              <a:buChar char="à"/>
              <a:defRPr/>
            </a:pPr>
            <a:r>
              <a:rPr lang="en-US" altLang="ja-JP" sz="1600">
                <a:solidFill>
                  <a:srgbClr val="000000"/>
                </a:solidFill>
                <a:latin typeface="+mj-lt"/>
                <a:ea typeface="Tahoma" pitchFamily="34" charset="0"/>
                <a:cs typeface="Times New Roman" panose="02020603050405020304" pitchFamily="18" charset="0"/>
              </a:rPr>
              <a:t>Take time: 200 time x 0.7 min = 140 min</a:t>
            </a:r>
          </a:p>
          <a:p>
            <a:pPr>
              <a:buFont typeface="Wingdings" panose="05000000000000000000" pitchFamily="2" charset="2"/>
              <a:buChar char="à"/>
              <a:defRPr/>
            </a:pPr>
            <a:r>
              <a:rPr lang="en-US" altLang="ja-JP" sz="1600">
                <a:solidFill>
                  <a:srgbClr val="000000"/>
                </a:solidFill>
                <a:latin typeface="+mj-lt"/>
                <a:ea typeface="Tahoma" pitchFamily="34" charset="0"/>
                <a:cs typeface="Times New Roman" panose="02020603050405020304" pitchFamily="18" charset="0"/>
              </a:rPr>
              <a:t>Save time: 280 min/month = 56h/y</a:t>
            </a:r>
            <a:endParaRPr lang="en-US" altLang="ja-JP" sz="1600" dirty="0">
              <a:solidFill>
                <a:srgbClr val="000000"/>
              </a:solidFill>
              <a:latin typeface="+mj-lt"/>
              <a:ea typeface="Tahoma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41" name="Group 1">
            <a:extLst>
              <a:ext uri="{FF2B5EF4-FFF2-40B4-BE49-F238E27FC236}">
                <a16:creationId xmlns:a16="http://schemas.microsoft.com/office/drawing/2014/main" id="{532DBCAB-3210-4C6D-A5E1-C1B55BCC45BC}"/>
              </a:ext>
            </a:extLst>
          </p:cNvPr>
          <p:cNvGrpSpPr/>
          <p:nvPr/>
        </p:nvGrpSpPr>
        <p:grpSpPr>
          <a:xfrm>
            <a:off x="85255" y="950678"/>
            <a:ext cx="8934063" cy="321492"/>
            <a:chOff x="2132004" y="961572"/>
            <a:chExt cx="6896755" cy="274320"/>
          </a:xfrm>
        </p:grpSpPr>
        <p:sp>
          <p:nvSpPr>
            <p:cNvPr id="46" name="AutoShape 6">
              <a:extLst>
                <a:ext uri="{FF2B5EF4-FFF2-40B4-BE49-F238E27FC236}">
                  <a16:creationId xmlns:a16="http://schemas.microsoft.com/office/drawing/2014/main" id="{726F5DED-D3ED-4958-ABF1-27E15E377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004" y="962132"/>
              <a:ext cx="2128666" cy="27376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ja-JP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+mj-lt"/>
                  <a:sym typeface="Wingdings" pitchFamily="2" charset="2"/>
                </a:rPr>
                <a:t>Developer</a:t>
              </a:r>
              <a:r>
                <a:rPr kumimoji="1" lang="en-US" altLang="ja-JP"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+mj-lt"/>
                  <a:sym typeface="Wingdings" pitchFamily="2" charset="2"/>
                </a:rPr>
                <a:t>: SAP team</a:t>
              </a:r>
              <a:endParaRPr kumimoji="1" lang="en-US" altLang="ja-JP" dirty="0"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sym typeface="Wingdings" pitchFamily="2" charset="2"/>
              </a:endParaRPr>
            </a:p>
          </p:txBody>
        </p:sp>
        <p:sp>
          <p:nvSpPr>
            <p:cNvPr id="47" name="AutoShape 6">
              <a:extLst>
                <a:ext uri="{FF2B5EF4-FFF2-40B4-BE49-F238E27FC236}">
                  <a16:creationId xmlns:a16="http://schemas.microsoft.com/office/drawing/2014/main" id="{0C78137D-0531-4743-AB2C-1BE4DB87A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1855" y="962132"/>
              <a:ext cx="932118" cy="273760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kumimoji="1" lang="en-US" altLang="ja-JP" dirty="0" err="1"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+mj-lt"/>
                  <a:sym typeface="Wingdings" pitchFamily="2" charset="2"/>
                </a:rPr>
                <a:t>Expn</a:t>
              </a:r>
              <a:r>
                <a:rPr kumimoji="1" lang="en-US" altLang="ja-JP" dirty="0">
                  <a:solidFill>
                    <a:prstClr val="black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+mj-lt"/>
                  <a:sym typeface="Wingdings" pitchFamily="2" charset="2"/>
                </a:rPr>
                <a:t>: 0</a:t>
              </a:r>
            </a:p>
          </p:txBody>
        </p:sp>
        <p:sp>
          <p:nvSpPr>
            <p:cNvPr id="48" name="AutoShape 6">
              <a:extLst>
                <a:ext uri="{FF2B5EF4-FFF2-40B4-BE49-F238E27FC236}">
                  <a16:creationId xmlns:a16="http://schemas.microsoft.com/office/drawing/2014/main" id="{CFD14225-A6AE-41CB-AA6C-738763EA7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7028" y="961572"/>
              <a:ext cx="2281731" cy="273505"/>
            </a:xfrm>
            <a:prstGeom prst="roundRect">
              <a:avLst>
                <a:gd name="adj" fmla="val 16667"/>
              </a:avLst>
            </a:prstGeom>
            <a:solidFill>
              <a:srgbClr val="FFFF99"/>
            </a:solidFill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spcBef>
                  <a:spcPct val="20000"/>
                </a:spcBef>
              </a:pPr>
              <a:r>
                <a:rPr lang="en-US" altLang="ja-JP" sz="1500" b="1">
                  <a:solidFill>
                    <a:srgbClr val="00CC00"/>
                  </a:solidFill>
                  <a:latin typeface="+mj-lt"/>
                  <a:cs typeface="Arial" panose="020B0604020202020204" pitchFamily="34" charset="0"/>
                </a:rPr>
                <a:t>Save time: 56h/y</a:t>
              </a:r>
              <a:endParaRPr lang="en-US" altLang="ja-JP" sz="1500" b="1" dirty="0">
                <a:solidFill>
                  <a:srgbClr val="00CC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49" name="AutoShape 6">
            <a:extLst>
              <a:ext uri="{FF2B5EF4-FFF2-40B4-BE49-F238E27FC236}">
                <a16:creationId xmlns:a16="http://schemas.microsoft.com/office/drawing/2014/main" id="{1936A15E-1922-4476-A60F-52A3CA957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1302" y="950678"/>
            <a:ext cx="1823915" cy="321492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1" lang="en-US" altLang="ja-JP" dirty="0"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sym typeface="Wingdings" pitchFamily="2" charset="2"/>
              </a:rPr>
              <a:t>Apply</a:t>
            </a:r>
            <a:r>
              <a:rPr kumimoji="1" lang="en-US" altLang="ja-JP"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sym typeface="Wingdings" pitchFamily="2" charset="2"/>
              </a:rPr>
              <a:t>: Apr.2022</a:t>
            </a:r>
            <a:endParaRPr kumimoji="1" lang="en-US" altLang="ja-JP" dirty="0">
              <a:solidFill>
                <a:prstClr val="black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+mj-lt"/>
              <a:sym typeface="Wingdings" pitchFamily="2" charset="2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F13601B-8C14-44A7-8018-84EA8C89A62A}"/>
              </a:ext>
            </a:extLst>
          </p:cNvPr>
          <p:cNvGrpSpPr/>
          <p:nvPr/>
        </p:nvGrpSpPr>
        <p:grpSpPr>
          <a:xfrm>
            <a:off x="303974" y="2192506"/>
            <a:ext cx="3800813" cy="2689908"/>
            <a:chOff x="394404" y="1696021"/>
            <a:chExt cx="3800813" cy="268990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A82A7F5-F692-49C2-ABD5-9494A1320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404" y="1759726"/>
              <a:ext cx="3751719" cy="2626203"/>
            </a:xfrm>
            <a:prstGeom prst="rect">
              <a:avLst/>
            </a:prstGeom>
          </p:spPr>
        </p:pic>
        <p:sp>
          <p:nvSpPr>
            <p:cNvPr id="11" name="Speech Bubble: Rectangle with Corners Rounded 10">
              <a:extLst>
                <a:ext uri="{FF2B5EF4-FFF2-40B4-BE49-F238E27FC236}">
                  <a16:creationId xmlns:a16="http://schemas.microsoft.com/office/drawing/2014/main" id="{39B92CEE-A6AF-40B1-92C6-5D1963A0E552}"/>
                </a:ext>
              </a:extLst>
            </p:cNvPr>
            <p:cNvSpPr/>
            <p:nvPr/>
          </p:nvSpPr>
          <p:spPr>
            <a:xfrm>
              <a:off x="2384068" y="1696021"/>
              <a:ext cx="1811149" cy="750844"/>
            </a:xfrm>
            <a:prstGeom prst="wedgeRoundRectCallout">
              <a:avLst>
                <a:gd name="adj1" fmla="val -21821"/>
                <a:gd name="adj2" fmla="val 108454"/>
                <a:gd name="adj3" fmla="val 16667"/>
              </a:avLst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kumimoji="1" lang="en-US" sz="1200"/>
                <a:t>Input each material type each time </a:t>
              </a:r>
              <a:r>
                <a:rPr kumimoji="1" lang="en-US" sz="1200">
                  <a:sym typeface="Wingdings" panose="05000000000000000000" pitchFamily="2" charset="2"/>
                </a:rPr>
                <a:t> 3 type = 3 execution time</a:t>
              </a:r>
              <a:endParaRPr kumimoji="1" lang="en-US" sz="1200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5C56ED9-5D7A-487D-B641-553CBFE2FFE0}"/>
                </a:ext>
              </a:extLst>
            </p:cNvPr>
            <p:cNvSpPr/>
            <p:nvPr/>
          </p:nvSpPr>
          <p:spPr>
            <a:xfrm>
              <a:off x="503853" y="2680062"/>
              <a:ext cx="3561418" cy="206587"/>
            </a:xfrm>
            <a:prstGeom prst="roundRect">
              <a:avLst/>
            </a:prstGeom>
            <a:no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en-US" dirty="0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1DD51538-F146-4115-B561-B3F824D87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540" y="2283413"/>
            <a:ext cx="3517664" cy="2599001"/>
          </a:xfrm>
          <a:prstGeom prst="rect">
            <a:avLst/>
          </a:prstGeom>
        </p:spPr>
      </p:pic>
      <p:sp>
        <p:nvSpPr>
          <p:cNvPr id="55" name="Speech Bubble: Rectangle with Corners Rounded 54">
            <a:extLst>
              <a:ext uri="{FF2B5EF4-FFF2-40B4-BE49-F238E27FC236}">
                <a16:creationId xmlns:a16="http://schemas.microsoft.com/office/drawing/2014/main" id="{ED00E18C-4289-4566-A487-443D001FBCAA}"/>
              </a:ext>
            </a:extLst>
          </p:cNvPr>
          <p:cNvSpPr/>
          <p:nvPr/>
        </p:nvSpPr>
        <p:spPr>
          <a:xfrm>
            <a:off x="6638075" y="2542426"/>
            <a:ext cx="1811149" cy="400924"/>
          </a:xfrm>
          <a:prstGeom prst="wedgeRoundRectCallout">
            <a:avLst>
              <a:gd name="adj1" fmla="val -31610"/>
              <a:gd name="adj2" fmla="val 115436"/>
              <a:gd name="adj3" fmla="val 16667"/>
            </a:avLst>
          </a:prstGeom>
          <a:ln w="19050">
            <a:solidFill>
              <a:srgbClr val="0000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sz="1200">
                <a:solidFill>
                  <a:srgbClr val="0000CC"/>
                </a:solidFill>
              </a:rPr>
              <a:t>Input all material type one time</a:t>
            </a:r>
            <a:endParaRPr kumimoji="1" lang="en-US" sz="1200" dirty="0">
              <a:solidFill>
                <a:srgbClr val="0000CC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1DD11E3-2319-4F90-BA04-07526A25D669}"/>
              </a:ext>
            </a:extLst>
          </p:cNvPr>
          <p:cNvSpPr/>
          <p:nvPr/>
        </p:nvSpPr>
        <p:spPr>
          <a:xfrm>
            <a:off x="4921520" y="3202363"/>
            <a:ext cx="3517664" cy="143446"/>
          </a:xfrm>
          <a:prstGeom prst="roundRect">
            <a:avLst/>
          </a:prstGeom>
          <a:noFill/>
          <a:ln w="19050">
            <a:solidFill>
              <a:srgbClr val="0000CC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581CAC3-A3BC-43B6-B3CB-5681C288ED2F}"/>
              </a:ext>
            </a:extLst>
          </p:cNvPr>
          <p:cNvSpPr txBox="1"/>
          <p:nvPr/>
        </p:nvSpPr>
        <p:spPr>
          <a:xfrm>
            <a:off x="4581482" y="5063971"/>
            <a:ext cx="446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CC"/>
                </a:solidFill>
              </a:rPr>
              <a:t>Reduce time to execute for all material type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CF2D87-A8C3-4E80-A9C6-1F78F295A70A}"/>
              </a:ext>
            </a:extLst>
          </p:cNvPr>
          <p:cNvSpPr txBox="1"/>
          <p:nvPr/>
        </p:nvSpPr>
        <p:spPr>
          <a:xfrm>
            <a:off x="307421" y="1812378"/>
            <a:ext cx="4223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prstClr val="black"/>
                </a:solidFill>
              </a:rPr>
              <a:t>~ 900 storage location in SAP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88363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/>
      </a:spPr>
      <a:bodyPr rtlCol="0" anchor="ctr"/>
      <a:lstStyle>
        <a:defPPr algn="ctr">
          <a:defRPr kumimoji="1" dirty="0" smtClean="0"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160</Words>
  <Application>Microsoft Office PowerPoint</Application>
  <PresentationFormat>On-screen Show (4:3)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ＭＳ Ｐゴシック</vt:lpstr>
      <vt:lpstr>Arial</vt:lpstr>
      <vt:lpstr>Calibri</vt:lpstr>
      <vt:lpstr>Tahoma</vt:lpstr>
      <vt:lpstr>Times New Roman</vt:lpstr>
      <vt:lpstr>Wingdings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THI_Dao</dc:creator>
  <cp:lastModifiedBy>HOA LE THU</cp:lastModifiedBy>
  <cp:revision>151</cp:revision>
  <dcterms:created xsi:type="dcterms:W3CDTF">2021-12-15T01:55:30Z</dcterms:created>
  <dcterms:modified xsi:type="dcterms:W3CDTF">2022-05-12T02:58:05Z</dcterms:modified>
</cp:coreProperties>
</file>