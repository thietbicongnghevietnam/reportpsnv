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1"/>
  </p:notesMasterIdLst>
  <p:handoutMasterIdLst>
    <p:handoutMasterId r:id="rId12"/>
  </p:handoutMasterIdLst>
  <p:sldIdLst>
    <p:sldId id="315" r:id="rId5"/>
    <p:sldId id="342" r:id="rId6"/>
    <p:sldId id="343" r:id="rId7"/>
    <p:sldId id="347" r:id="rId8"/>
    <p:sldId id="346" r:id="rId9"/>
    <p:sldId id="349" r:id="rId10"/>
  </p:sldIdLst>
  <p:sldSz cx="9144000" cy="6858000" type="screen4x3"/>
  <p:notesSz cx="9939338" cy="1436846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OA LE THU" initials="HLT" lastIdx="1" clrIdx="0">
    <p:extLst>
      <p:ext uri="{19B8F6BF-5375-455C-9EA6-DF929625EA0E}">
        <p15:presenceInfo xmlns:p15="http://schemas.microsoft.com/office/powerpoint/2012/main" userId="S-1-5-21-3734395507-3439540992-2097805461-664206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0000FF"/>
    <a:srgbClr val="1717F7"/>
    <a:srgbClr val="003399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62" autoAdjust="0"/>
    <p:restoredTop sz="96257" autoAdjust="0"/>
  </p:normalViewPr>
  <p:slideViewPr>
    <p:cSldViewPr>
      <p:cViewPr varScale="1">
        <p:scale>
          <a:sx n="78" d="100"/>
          <a:sy n="78" d="100"/>
        </p:scale>
        <p:origin x="102" y="79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308130" cy="719113"/>
          </a:xfrm>
          <a:prstGeom prst="rect">
            <a:avLst/>
          </a:prstGeom>
        </p:spPr>
        <p:txBody>
          <a:bodyPr vert="horz" lIns="132881" tIns="66440" rIns="132881" bIns="66440" rtlCol="0"/>
          <a:lstStyle>
            <a:lvl1pPr algn="l">
              <a:defRPr sz="17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628888" y="0"/>
            <a:ext cx="4308130" cy="719113"/>
          </a:xfrm>
          <a:prstGeom prst="rect">
            <a:avLst/>
          </a:prstGeom>
        </p:spPr>
        <p:txBody>
          <a:bodyPr vert="horz" lIns="132881" tIns="66440" rIns="132881" bIns="66440" rtlCol="0"/>
          <a:lstStyle>
            <a:lvl1pPr algn="r">
              <a:defRPr sz="1700"/>
            </a:lvl1pPr>
          </a:lstStyle>
          <a:p>
            <a:fld id="{AF92F7A4-090D-4C55-BF4A-08F54540FADF}" type="datetimeFigureOut">
              <a:rPr lang="en-US" smtClean="0"/>
              <a:t>2021-06-24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13647053"/>
            <a:ext cx="4308130" cy="719113"/>
          </a:xfrm>
          <a:prstGeom prst="rect">
            <a:avLst/>
          </a:prstGeom>
        </p:spPr>
        <p:txBody>
          <a:bodyPr vert="horz" lIns="132881" tIns="66440" rIns="132881" bIns="66440" rtlCol="0" anchor="b"/>
          <a:lstStyle>
            <a:lvl1pPr algn="l">
              <a:defRPr sz="17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628888" y="13647053"/>
            <a:ext cx="4308130" cy="719113"/>
          </a:xfrm>
          <a:prstGeom prst="rect">
            <a:avLst/>
          </a:prstGeom>
        </p:spPr>
        <p:txBody>
          <a:bodyPr vert="horz" lIns="132881" tIns="66440" rIns="132881" bIns="66440" rtlCol="0" anchor="b"/>
          <a:lstStyle>
            <a:lvl1pPr algn="r">
              <a:defRPr sz="1700"/>
            </a:lvl1pPr>
          </a:lstStyle>
          <a:p>
            <a:fld id="{E8334EB3-34BA-4035-B171-8DDDA0748D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82162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308130" cy="719113"/>
          </a:xfrm>
          <a:prstGeom prst="rect">
            <a:avLst/>
          </a:prstGeom>
        </p:spPr>
        <p:txBody>
          <a:bodyPr vert="horz" lIns="132881" tIns="66440" rIns="132881" bIns="66440" rtlCol="0"/>
          <a:lstStyle>
            <a:lvl1pPr algn="l">
              <a:defRPr sz="17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28888" y="0"/>
            <a:ext cx="4308130" cy="719113"/>
          </a:xfrm>
          <a:prstGeom prst="rect">
            <a:avLst/>
          </a:prstGeom>
        </p:spPr>
        <p:txBody>
          <a:bodyPr vert="horz" lIns="132881" tIns="66440" rIns="132881" bIns="66440" rtlCol="0"/>
          <a:lstStyle>
            <a:lvl1pPr algn="r">
              <a:defRPr sz="1700"/>
            </a:lvl1pPr>
          </a:lstStyle>
          <a:p>
            <a:fld id="{881FCB6B-5C4C-4A10-8D61-75E4605029D7}" type="datetimeFigureOut">
              <a:rPr lang="en-US" smtClean="0"/>
              <a:t>2021-06-24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7950" y="1077913"/>
            <a:ext cx="7183438" cy="5386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32881" tIns="66440" rIns="132881" bIns="6644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93470" y="6825826"/>
            <a:ext cx="7952399" cy="6465119"/>
          </a:xfrm>
          <a:prstGeom prst="rect">
            <a:avLst/>
          </a:prstGeom>
        </p:spPr>
        <p:txBody>
          <a:bodyPr vert="horz" lIns="132881" tIns="66440" rIns="132881" bIns="6644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13647053"/>
            <a:ext cx="4308130" cy="719113"/>
          </a:xfrm>
          <a:prstGeom prst="rect">
            <a:avLst/>
          </a:prstGeom>
        </p:spPr>
        <p:txBody>
          <a:bodyPr vert="horz" lIns="132881" tIns="66440" rIns="132881" bIns="66440" rtlCol="0" anchor="b"/>
          <a:lstStyle>
            <a:lvl1pPr algn="l">
              <a:defRPr sz="17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28888" y="13647053"/>
            <a:ext cx="4308130" cy="719113"/>
          </a:xfrm>
          <a:prstGeom prst="rect">
            <a:avLst/>
          </a:prstGeom>
        </p:spPr>
        <p:txBody>
          <a:bodyPr vert="horz" lIns="132881" tIns="66440" rIns="132881" bIns="66440" rtlCol="0" anchor="b"/>
          <a:lstStyle>
            <a:lvl1pPr algn="r">
              <a:defRPr sz="1700"/>
            </a:lvl1pPr>
          </a:lstStyle>
          <a:p>
            <a:fld id="{838585CC-6A4B-4F0F-8BB8-75C07CEB25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8501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Good morning </a:t>
            </a:r>
            <a:r>
              <a:rPr lang="en-GB"/>
              <a:t>everyone.</a:t>
            </a:r>
            <a:endParaRPr lang="en-US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8585CC-6A4B-4F0F-8BB8-75C07CEB259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8452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GB" altLang="ja-JP" b="0"/>
              <a:t>,</a:t>
            </a:r>
            <a:endParaRPr kumimoji="1" lang="ja-JP" alt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63D9F5-3C90-4369-9CBE-C43D848BDAB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722193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GB" altLang="ja-JP" b="0"/>
              <a:t>,</a:t>
            </a:r>
            <a:endParaRPr kumimoji="1" lang="ja-JP" alt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63D9F5-3C90-4369-9CBE-C43D848BDAB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520511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GB" altLang="ja-JP" b="0"/>
              <a:t>,</a:t>
            </a:r>
            <a:endParaRPr kumimoji="1" lang="ja-JP" alt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63D9F5-3C90-4369-9CBE-C43D848BDAB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77105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GB" altLang="ja-JP" b="0" dirty="0"/>
              <a:t>,</a:t>
            </a:r>
            <a:endParaRPr kumimoji="1" lang="ja-JP" alt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63D9F5-3C90-4369-9CBE-C43D848BDAB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198619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1328803">
              <a:defRPr/>
            </a:pPr>
            <a:r>
              <a:rPr kumimoji="1" lang="en-US" altLang="ja-JP" b="0" dirty="0"/>
              <a:t>Last theme, that is ISG member checking purchase process IT devices for all of groups.</a:t>
            </a:r>
            <a:endParaRPr kumimoji="1" lang="ja-JP" alt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63D9F5-3C90-4369-9CBE-C43D848BDAB2}" type="slidenum">
              <a:rPr lang="en-US" smtClean="0">
                <a:solidFill>
                  <a:prstClr val="black"/>
                </a:solidFill>
              </a:rPr>
              <a:pPr/>
              <a:t>6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9137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5766E-3ABE-4B53-A3DE-0521FD1E33C5}" type="datetimeFigureOut">
              <a:rPr lang="en-US" smtClean="0"/>
              <a:t>2021-06-24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B52C3-54E5-4F61-B0BA-ADF9850744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9576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5766E-3ABE-4B53-A3DE-0521FD1E33C5}" type="datetimeFigureOut">
              <a:rPr lang="en-US" smtClean="0"/>
              <a:t>2021-06-24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B52C3-54E5-4F61-B0BA-ADF9850744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1523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5766E-3ABE-4B53-A3DE-0521FD1E33C5}" type="datetimeFigureOut">
              <a:rPr lang="en-US" smtClean="0"/>
              <a:t>2021-06-24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B52C3-54E5-4F61-B0BA-ADF9850744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5337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5766E-3ABE-4B53-A3DE-0521FD1E33C5}" type="datetimeFigureOut">
              <a:rPr lang="en-US" smtClean="0"/>
              <a:t>2021-06-24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B52C3-54E5-4F61-B0BA-ADF9850744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7315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5766E-3ABE-4B53-A3DE-0521FD1E33C5}" type="datetimeFigureOut">
              <a:rPr lang="en-US" smtClean="0"/>
              <a:t>2021-06-24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B52C3-54E5-4F61-B0BA-ADF9850744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4416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5766E-3ABE-4B53-A3DE-0521FD1E33C5}" type="datetimeFigureOut">
              <a:rPr lang="en-US" smtClean="0"/>
              <a:t>2021-06-24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B52C3-54E5-4F61-B0BA-ADF9850744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553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5766E-3ABE-4B53-A3DE-0521FD1E33C5}" type="datetimeFigureOut">
              <a:rPr lang="en-US" smtClean="0"/>
              <a:t>2021-06-24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B52C3-54E5-4F61-B0BA-ADF9850744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4845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5766E-3ABE-4B53-A3DE-0521FD1E33C5}" type="datetimeFigureOut">
              <a:rPr lang="en-US" smtClean="0"/>
              <a:t>2021-06-24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B52C3-54E5-4F61-B0BA-ADF9850744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5443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5766E-3ABE-4B53-A3DE-0521FD1E33C5}" type="datetimeFigureOut">
              <a:rPr lang="en-US" smtClean="0"/>
              <a:t>2021-06-24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B52C3-54E5-4F61-B0BA-ADF9850744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3661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5766E-3ABE-4B53-A3DE-0521FD1E33C5}" type="datetimeFigureOut">
              <a:rPr lang="en-US" smtClean="0"/>
              <a:t>2021-06-24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B52C3-54E5-4F61-B0BA-ADF9850744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63138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5766E-3ABE-4B53-A3DE-0521FD1E33C5}" type="datetimeFigureOut">
              <a:rPr lang="en-US" smtClean="0"/>
              <a:t>2021-06-24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B52C3-54E5-4F61-B0BA-ADF9850744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4055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65766E-3ABE-4B53-A3DE-0521FD1E33C5}" type="datetimeFigureOut">
              <a:rPr lang="en-US" smtClean="0"/>
              <a:t>2021-06-24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CB52C3-54E5-4F61-B0BA-ADF9850744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4788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ext Box 2"/>
          <p:cNvSpPr txBox="1">
            <a:spLocks noChangeArrowheads="1"/>
          </p:cNvSpPr>
          <p:nvPr/>
        </p:nvSpPr>
        <p:spPr bwMode="auto">
          <a:xfrm>
            <a:off x="361122" y="304801"/>
            <a:ext cx="8424863" cy="1905000"/>
          </a:xfrm>
          <a:prstGeom prst="rect">
            <a:avLst/>
          </a:prstGeom>
          <a:solidFill>
            <a:srgbClr val="0000B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40069" tIns="20035" rIns="40069" bIns="20035" anchor="ctr" anchorCtr="1"/>
          <a:lstStyle>
            <a:defPPr>
              <a:defRPr lang="en-US"/>
            </a:defPPr>
            <a:lvl1pPr>
              <a:lnSpc>
                <a:spcPct val="90000"/>
              </a:lnSpc>
              <a:defRPr sz="2000" b="1" cap="all">
                <a:solidFill>
                  <a:prstClr val="white">
                    <a:lumMod val="9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algn="ctr"/>
            <a:r>
              <a:rPr lang="en-US" altLang="ja-JP" sz="2800" dirty="0"/>
              <a:t> IMPROVEMENT RESULT REPORT </a:t>
            </a:r>
          </a:p>
          <a:p>
            <a:pPr algn="ctr"/>
            <a:r>
              <a:rPr lang="en-US" altLang="ja-JP" sz="2800" dirty="0"/>
              <a:t>JUN.2021</a:t>
            </a:r>
          </a:p>
        </p:txBody>
      </p:sp>
      <p:sp>
        <p:nvSpPr>
          <p:cNvPr id="8" name="AutoShape 54"/>
          <p:cNvSpPr>
            <a:spLocks noChangeArrowheads="1"/>
          </p:cNvSpPr>
          <p:nvPr/>
        </p:nvSpPr>
        <p:spPr bwMode="gray">
          <a:xfrm>
            <a:off x="1752600" y="2895600"/>
            <a:ext cx="5583610" cy="27432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FFFF99"/>
              </a:gs>
              <a:gs pos="50000">
                <a:schemeClr val="bg1"/>
              </a:gs>
              <a:gs pos="100000">
                <a:srgbClr val="FFFF99"/>
              </a:gs>
            </a:gsLst>
            <a:lin ang="2700000" scaled="1"/>
          </a:gradFill>
          <a:ln w="25400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none" anchor="ctr"/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  <a:tabLst>
                <a:tab pos="2293938" algn="l"/>
              </a:tabLst>
              <a:defRPr/>
            </a:pPr>
            <a:r>
              <a:rPr lang="en-US" altLang="en-US" sz="2000" b="1" dirty="0">
                <a:solidFill>
                  <a:srgbClr val="1717F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Department	:    Information System</a:t>
            </a:r>
            <a:endParaRPr lang="ja-JP" altLang="en-US" sz="2000" b="1" dirty="0">
              <a:solidFill>
                <a:srgbClr val="1717F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  <a:tabLst>
                <a:tab pos="2293938" algn="l"/>
              </a:tabLst>
              <a:defRPr/>
            </a:pPr>
            <a:r>
              <a:rPr lang="en-US" altLang="ja-JP" sz="2000" b="1" dirty="0">
                <a:solidFill>
                  <a:srgbClr val="1717F7"/>
                </a:solidFill>
                <a:latin typeface="Arial" panose="020B0604020202020204" pitchFamily="34" charset="0"/>
                <a:ea typeface="HGP創英角ｺﾞｼｯｸUB"/>
                <a:cs typeface="Arial" panose="020B0604020202020204" pitchFamily="34" charset="0"/>
              </a:rPr>
              <a:t>Presenter	: 	Nguyen Van Hien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  <a:tabLst>
                <a:tab pos="2293938" algn="l"/>
              </a:tabLst>
              <a:defRPr/>
            </a:pPr>
            <a:r>
              <a:rPr kumimoji="1" lang="en-US" altLang="ja-JP" sz="2000" b="1" dirty="0">
                <a:solidFill>
                  <a:srgbClr val="1717F7"/>
                </a:solidFill>
                <a:latin typeface="Arial" panose="020B0604020202020204" pitchFamily="34" charset="0"/>
                <a:ea typeface="HGP創英角ｺﾞｼｯｸUB" pitchFamily="50" charset="-128"/>
                <a:cs typeface="Arial" panose="020B0604020202020204" pitchFamily="34" charset="0"/>
              </a:rPr>
              <a:t>Total topics	:	5 topics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  <a:tabLst>
                <a:tab pos="2336800" algn="l"/>
              </a:tabLst>
              <a:defRPr/>
            </a:pPr>
            <a:r>
              <a:rPr kumimoji="1" lang="en-US" altLang="ja-JP" sz="2000" b="1" dirty="0">
                <a:solidFill>
                  <a:srgbClr val="1717F7"/>
                </a:solidFill>
                <a:latin typeface="Arial" panose="020B0604020202020204" pitchFamily="34" charset="0"/>
                <a:ea typeface="HGP創英角ｺﾞｼｯｸUB" pitchFamily="50" charset="-128"/>
                <a:cs typeface="Arial" panose="020B0604020202020204" pitchFamily="34" charset="0"/>
              </a:rPr>
              <a:t>Save cost	:  </a:t>
            </a:r>
            <a:r>
              <a:rPr kumimoji="1" lang="en-US" altLang="ja-JP" sz="2000" b="1">
                <a:solidFill>
                  <a:srgbClr val="1717F7"/>
                </a:solidFill>
                <a:latin typeface="Arial" panose="020B0604020202020204" pitchFamily="34" charset="0"/>
                <a:ea typeface="HGP創英角ｺﾞｼｯｸUB" pitchFamily="50" charset="-128"/>
                <a:cs typeface="Arial" panose="020B0604020202020204" pitchFamily="34" charset="0"/>
              </a:rPr>
              <a:t>	5.3K</a:t>
            </a:r>
            <a:r>
              <a:rPr kumimoji="1" lang="en-US" altLang="ja-JP" sz="2000" b="1" dirty="0">
                <a:solidFill>
                  <a:srgbClr val="1717F7"/>
                </a:solidFill>
                <a:latin typeface="Arial" panose="020B0604020202020204" pitchFamily="34" charset="0"/>
                <a:ea typeface="HGP創英角ｺﾞｼｯｸUB" pitchFamily="50" charset="-128"/>
                <a:cs typeface="Arial" panose="020B0604020202020204" pitchFamily="34" charset="0"/>
              </a:rPr>
              <a:t>$/Year</a:t>
            </a:r>
          </a:p>
        </p:txBody>
      </p:sp>
    </p:spTree>
    <p:extLst>
      <p:ext uri="{BB962C8B-B14F-4D97-AF65-F5344CB8AC3E}">
        <p14:creationId xmlns:p14="http://schemas.microsoft.com/office/powerpoint/2010/main" val="24472224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AutoShape 2"/>
          <p:cNvSpPr>
            <a:spLocks noChangeArrowheads="1"/>
          </p:cNvSpPr>
          <p:nvPr/>
        </p:nvSpPr>
        <p:spPr bwMode="auto">
          <a:xfrm>
            <a:off x="65818" y="1507240"/>
            <a:ext cx="4353782" cy="4368436"/>
          </a:xfrm>
          <a:prstGeom prst="roundRect">
            <a:avLst>
              <a:gd name="adj" fmla="val 5551"/>
            </a:avLst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0" name="Text Box 4"/>
          <p:cNvSpPr txBox="1">
            <a:spLocks noChangeArrowheads="1"/>
          </p:cNvSpPr>
          <p:nvPr/>
        </p:nvSpPr>
        <p:spPr bwMode="auto">
          <a:xfrm>
            <a:off x="1089755" y="1315893"/>
            <a:ext cx="2305050" cy="425450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outerShdw dist="107763" dir="189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ＭＳ Ｐゴシック" pitchFamily="34" charset="-128"/>
                <a:ea typeface="ＭＳ Ｐゴシック" panose="020B0600070205080204" pitchFamily="34" charset="-128"/>
                <a:cs typeface="+mn-cs"/>
              </a:rPr>
              <a:t>◆</a:t>
            </a:r>
            <a:r>
              <a:rPr kumimoji="1" lang="en-US" altLang="ja-JP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ＭＳ Ｐゴシック" pitchFamily="34" charset="-128"/>
                <a:ea typeface="ＭＳ Ｐゴシック" panose="020B0600070205080204" pitchFamily="34" charset="-128"/>
                <a:cs typeface="+mn-cs"/>
              </a:rPr>
              <a:t>Before</a:t>
            </a:r>
          </a:p>
        </p:txBody>
      </p:sp>
      <p:sp>
        <p:nvSpPr>
          <p:cNvPr id="66" name="AutoShape 3"/>
          <p:cNvSpPr>
            <a:spLocks noChangeArrowheads="1"/>
          </p:cNvSpPr>
          <p:nvPr/>
        </p:nvSpPr>
        <p:spPr bwMode="auto">
          <a:xfrm>
            <a:off x="4514850" y="1507240"/>
            <a:ext cx="4576516" cy="4362086"/>
          </a:xfrm>
          <a:prstGeom prst="roundRect">
            <a:avLst>
              <a:gd name="adj" fmla="val 5551"/>
            </a:avLst>
          </a:prstGeom>
          <a:noFill/>
          <a:ln w="2857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67" name="Text Box 5"/>
          <p:cNvSpPr txBox="1">
            <a:spLocks noChangeArrowheads="1"/>
          </p:cNvSpPr>
          <p:nvPr/>
        </p:nvSpPr>
        <p:spPr bwMode="auto">
          <a:xfrm>
            <a:off x="5619750" y="1315893"/>
            <a:ext cx="2305050" cy="425450"/>
          </a:xfrm>
          <a:prstGeom prst="rect">
            <a:avLst/>
          </a:prstGeom>
          <a:solidFill>
            <a:srgbClr val="0000FF"/>
          </a:solidFill>
          <a:ln>
            <a:noFill/>
          </a:ln>
          <a:effectLst>
            <a:outerShdw dist="107763" dir="18900000" algn="ctr" rotWithShape="0">
              <a:schemeClr val="bg2">
                <a:alpha val="50000"/>
              </a:schemeClr>
            </a:outerShdw>
          </a:effectLst>
        </p:spPr>
        <p:txBody>
          <a:bodyPr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ＭＳ Ｐゴシック" pitchFamily="34" charset="-128"/>
                <a:ea typeface="ＭＳ Ｐゴシック" panose="020B0600070205080204" pitchFamily="34" charset="-128"/>
                <a:cs typeface="+mn-cs"/>
              </a:rPr>
              <a:t>◆ </a:t>
            </a:r>
            <a:r>
              <a:rPr kumimoji="1" lang="en-US" altLang="ja-JP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ＭＳ Ｐゴシック" pitchFamily="34" charset="-128"/>
                <a:ea typeface="ＭＳ Ｐゴシック" panose="020B0600070205080204" pitchFamily="34" charset="-128"/>
                <a:cs typeface="+mn-cs"/>
              </a:rPr>
              <a:t>After </a:t>
            </a:r>
            <a:endParaRPr kumimoji="1" lang="en-US" altLang="ja-JP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ＭＳ Ｐゴシック" pitchFamily="34" charset="-128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42" name="Text Box 2">
            <a:extLst>
              <a:ext uri="{FF2B5EF4-FFF2-40B4-BE49-F238E27FC236}">
                <a16:creationId xmlns:a16="http://schemas.microsoft.com/office/drawing/2014/main" id="{C56CF688-0247-4393-B600-439F24E4C8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314" y="36562"/>
            <a:ext cx="9094680" cy="424529"/>
          </a:xfrm>
          <a:prstGeom prst="rect">
            <a:avLst/>
          </a:prstGeom>
          <a:solidFill>
            <a:srgbClr val="0000B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40069" tIns="20035" rIns="40069" bIns="20035" anchor="ctr" anchorCtr="1"/>
          <a:lstStyle>
            <a:defPPr>
              <a:defRPr lang="en-US"/>
            </a:defPPr>
            <a:lvl1pPr>
              <a:lnSpc>
                <a:spcPct val="90000"/>
              </a:lnSpc>
              <a:defRPr sz="2000" b="1" cap="all">
                <a:solidFill>
                  <a:prstClr val="white">
                    <a:lumMod val="9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GB" altLang="ja-JP" dirty="0"/>
              <a:t>Barcode Printing SOFTWARE</a:t>
            </a:r>
          </a:p>
        </p:txBody>
      </p:sp>
      <p:sp>
        <p:nvSpPr>
          <p:cNvPr id="43" name="Rectangle 59">
            <a:extLst>
              <a:ext uri="{FF2B5EF4-FFF2-40B4-BE49-F238E27FC236}">
                <a16:creationId xmlns:a16="http://schemas.microsoft.com/office/drawing/2014/main" id="{CCB57E51-4993-4A8A-A19D-CCD70B3ADC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49058" y="123641"/>
            <a:ext cx="871330" cy="271154"/>
          </a:xfrm>
          <a:prstGeom prst="rect">
            <a:avLst/>
          </a:prstGeom>
          <a:solidFill>
            <a:srgbClr val="000099"/>
          </a:solidFill>
          <a:ln w="2857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vi-VN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1/5</a:t>
            </a:r>
          </a:p>
        </p:txBody>
      </p:sp>
      <p:sp>
        <p:nvSpPr>
          <p:cNvPr id="27" name="AutoShape 6"/>
          <p:cNvSpPr>
            <a:spLocks noChangeArrowheads="1"/>
          </p:cNvSpPr>
          <p:nvPr/>
        </p:nvSpPr>
        <p:spPr bwMode="auto">
          <a:xfrm>
            <a:off x="4542952" y="5948339"/>
            <a:ext cx="4552950" cy="809625"/>
          </a:xfrm>
          <a:prstGeom prst="roundRect">
            <a:avLst>
              <a:gd name="adj" fmla="val 16667"/>
            </a:avLst>
          </a:prstGeom>
          <a:solidFill>
            <a:srgbClr val="FFFF99"/>
          </a:solidFill>
          <a:ln w="28575">
            <a:solidFill>
              <a:srgbClr val="0000FF"/>
            </a:solidFill>
            <a:round/>
            <a:headEnd/>
            <a:tailEnd/>
          </a:ln>
        </p:spPr>
        <p:txBody>
          <a:bodyPr anchor="ctr"/>
          <a:lstStyle>
            <a:lvl1pPr marL="285750" indent="-285750" eaLnBrk="0" hangingPunct="0">
              <a:defRPr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eaLnBrk="0" hangingPunct="0">
              <a:defRPr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eaLnBrk="0" hangingPunct="0">
              <a:defRPr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eaLnBrk="0" hangingPunct="0">
              <a:defRPr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eaLnBrk="0" hangingPunct="0">
              <a:defRPr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eaLnBrk="0" fontAlgn="base" hangingPunct="0">
              <a:spcBef>
                <a:spcPct val="50000"/>
              </a:spcBef>
              <a:spcAft>
                <a:spcPct val="0"/>
              </a:spcAft>
              <a:buFont typeface="Wingdings" pitchFamily="2" charset="2"/>
              <a:buChar char="Ø"/>
              <a:defRPr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eaLnBrk="0" fontAlgn="base" hangingPunct="0">
              <a:spcBef>
                <a:spcPct val="50000"/>
              </a:spcBef>
              <a:spcAft>
                <a:spcPct val="0"/>
              </a:spcAft>
              <a:buFont typeface="Wingdings" pitchFamily="2" charset="2"/>
              <a:buChar char="Ø"/>
              <a:defRPr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eaLnBrk="0" fontAlgn="base" hangingPunct="0">
              <a:spcBef>
                <a:spcPct val="50000"/>
              </a:spcBef>
              <a:spcAft>
                <a:spcPct val="0"/>
              </a:spcAft>
              <a:buFont typeface="Wingdings" pitchFamily="2" charset="2"/>
              <a:buChar char="Ø"/>
              <a:defRPr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eaLnBrk="0" fontAlgn="base" hangingPunct="0">
              <a:spcBef>
                <a:spcPct val="50000"/>
              </a:spcBef>
              <a:spcAft>
                <a:spcPct val="0"/>
              </a:spcAft>
              <a:buFont typeface="Wingdings" pitchFamily="2" charset="2"/>
              <a:buChar char="Ø"/>
              <a:defRPr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R="0" lvl="0" algn="l" defTabSz="914400" rtl="0" eaLnBrk="0" fontAlgn="auto" latinLnBrk="0" hangingPunct="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Quick response and easy to use</a:t>
            </a:r>
          </a:p>
          <a:p>
            <a:pPr marR="0" lvl="0" algn="l" defTabSz="914400" rtl="0" eaLnBrk="0" fontAlgn="auto" latinLnBrk="0" hangingPunct="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sz="1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Save time: 115h/Year. (0.5K/Year) </a:t>
            </a:r>
          </a:p>
        </p:txBody>
      </p:sp>
      <p:sp>
        <p:nvSpPr>
          <p:cNvPr id="19" name="AutoShape 6">
            <a:extLst>
              <a:ext uri="{FF2B5EF4-FFF2-40B4-BE49-F238E27FC236}">
                <a16:creationId xmlns:a16="http://schemas.microsoft.com/office/drawing/2014/main" id="{3F473890-381A-44AB-A550-68C6E32A6F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1" y="5958591"/>
            <a:ext cx="4343399" cy="823209"/>
          </a:xfrm>
          <a:prstGeom prst="roundRect">
            <a:avLst>
              <a:gd name="adj" fmla="val 16667"/>
            </a:avLst>
          </a:prstGeom>
          <a:solidFill>
            <a:srgbClr val="FFFF99"/>
          </a:solidFill>
          <a:ln w="28575">
            <a:solidFill>
              <a:srgbClr val="FF0000"/>
            </a:solidFill>
            <a:round/>
            <a:headEnd/>
            <a:tailEnd/>
          </a:ln>
        </p:spPr>
        <p:txBody>
          <a:bodyPr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Take time to find and print barcode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Lost time: 120h/ Year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24E9E12-2354-4CC6-B289-3B2838738257}"/>
              </a:ext>
            </a:extLst>
          </p:cNvPr>
          <p:cNvGrpSpPr/>
          <p:nvPr/>
        </p:nvGrpSpPr>
        <p:grpSpPr>
          <a:xfrm>
            <a:off x="52634" y="931825"/>
            <a:ext cx="6119566" cy="321492"/>
            <a:chOff x="52634" y="931825"/>
            <a:chExt cx="6119566" cy="321492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636315FB-AA16-4931-AD00-186957B9449E}"/>
                </a:ext>
              </a:extLst>
            </p:cNvPr>
            <p:cNvGrpSpPr/>
            <p:nvPr/>
          </p:nvGrpSpPr>
          <p:grpSpPr>
            <a:xfrm>
              <a:off x="52634" y="931825"/>
              <a:ext cx="6119566" cy="321492"/>
              <a:chOff x="2107078" y="961572"/>
              <a:chExt cx="4676487" cy="274320"/>
            </a:xfrm>
          </p:grpSpPr>
          <p:sp>
            <p:nvSpPr>
              <p:cNvPr id="21" name="AutoShape 6">
                <a:extLst>
                  <a:ext uri="{FF2B5EF4-FFF2-40B4-BE49-F238E27FC236}">
                    <a16:creationId xmlns:a16="http://schemas.microsoft.com/office/drawing/2014/main" id="{6D51908F-EF05-4D65-B13B-F44BDFFBD9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07078" y="962132"/>
                <a:ext cx="1856644" cy="273760"/>
              </a:xfrm>
              <a:prstGeom prst="roundRect">
                <a:avLst>
                  <a:gd name="adj" fmla="val 16667"/>
                </a:avLst>
              </a:prstGeom>
              <a:solidFill>
                <a:srgbClr val="FFFF99"/>
              </a:solidFill>
              <a:ln w="28575">
                <a:solidFill>
                  <a:srgbClr val="0000FF"/>
                </a:solidFill>
                <a:round/>
                <a:headEnd/>
                <a:tailEnd/>
              </a:ln>
              <a:effectLst/>
            </p:spPr>
            <p:txBody>
              <a:bodyPr anchor="ctr"/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ja-JP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>
                      <a:outerShdw blurRad="38100" dist="38100" dir="2700000" algn="tl">
                        <a:srgbClr val="FFFFFF"/>
                      </a:outerShdw>
                    </a:effectLst>
                    <a:uLnTx/>
                    <a:uFillTx/>
                    <a:latin typeface="Calibri"/>
                    <a:ea typeface="ＭＳ Ｐゴシック" panose="020B0600070205080204" pitchFamily="34" charset="-128"/>
                    <a:cs typeface="+mn-cs"/>
                    <a:sym typeface="Wingdings" pitchFamily="2" charset="2"/>
                  </a:rPr>
                  <a:t>Developer: </a:t>
                </a:r>
                <a:r>
                  <a:rPr kumimoji="1" lang="en-US" altLang="ja-JP" dirty="0">
                    <a:solidFill>
                      <a:prstClr val="black"/>
                    </a:solidFill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Calibri"/>
                    <a:ea typeface="ＭＳ Ｐゴシック" panose="020B0600070205080204" pitchFamily="34" charset="-128"/>
                    <a:sym typeface="Wingdings" pitchFamily="2" charset="2"/>
                  </a:rPr>
                  <a:t>Dev team</a:t>
                </a:r>
                <a:endParaRPr kumimoji="1" lang="en-US" altLang="ja-JP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  <a:sym typeface="Wingdings" pitchFamily="2" charset="2"/>
                </a:endParaRPr>
              </a:p>
            </p:txBody>
          </p:sp>
          <p:sp>
            <p:nvSpPr>
              <p:cNvPr id="22" name="AutoShape 6">
                <a:extLst>
                  <a:ext uri="{FF2B5EF4-FFF2-40B4-BE49-F238E27FC236}">
                    <a16:creationId xmlns:a16="http://schemas.microsoft.com/office/drawing/2014/main" id="{ADDF6A9E-3A0C-4018-947B-3D3BD39FF9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45851" y="961572"/>
                <a:ext cx="1037714" cy="274320"/>
              </a:xfrm>
              <a:prstGeom prst="roundRect">
                <a:avLst>
                  <a:gd name="adj" fmla="val 16667"/>
                </a:avLst>
              </a:prstGeom>
              <a:solidFill>
                <a:srgbClr val="FFFF99"/>
              </a:solidFill>
              <a:ln w="28575">
                <a:solidFill>
                  <a:srgbClr val="0000FF"/>
                </a:solidFill>
                <a:round/>
                <a:headEnd/>
                <a:tailEnd/>
              </a:ln>
              <a:effectLst/>
            </p:spPr>
            <p:txBody>
              <a:bodyPr anchor="ctr"/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ja-JP" sz="11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>
                      <a:outerShdw blurRad="38100" dist="38100" dir="2700000" algn="tl">
                        <a:srgbClr val="FFFFFF"/>
                      </a:outerShdw>
                    </a:effectLst>
                    <a:uLnTx/>
                    <a:uFillTx/>
                    <a:latin typeface="Calibri"/>
                    <a:ea typeface="ＭＳ Ｐゴシック" panose="020B0600070205080204" pitchFamily="34" charset="-128"/>
                    <a:cs typeface="+mn-cs"/>
                    <a:sym typeface="Wingdings" pitchFamily="2" charset="2"/>
                  </a:rPr>
                  <a:t>Expense: 0 </a:t>
                </a:r>
                <a:endParaRPr kumimoji="1" lang="en-US" altLang="ja-JP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  <a:sym typeface="Wingdings" pitchFamily="2" charset="2"/>
                </a:endParaRPr>
              </a:p>
            </p:txBody>
          </p:sp>
        </p:grpSp>
        <p:sp>
          <p:nvSpPr>
            <p:cNvPr id="20" name="AutoShape 6">
              <a:extLst>
                <a:ext uri="{FF2B5EF4-FFF2-40B4-BE49-F238E27FC236}">
                  <a16:creationId xmlns:a16="http://schemas.microsoft.com/office/drawing/2014/main" id="{AF45FE8A-7925-45FA-BA93-C22C482756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4601" y="931825"/>
              <a:ext cx="2267269" cy="321492"/>
            </a:xfrm>
            <a:prstGeom prst="roundRect">
              <a:avLst>
                <a:gd name="adj" fmla="val 16667"/>
              </a:avLst>
            </a:prstGeom>
            <a:solidFill>
              <a:srgbClr val="FFFF99"/>
            </a:solidFill>
            <a:ln w="28575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 anchor="ctr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  <a:sym typeface="Wingdings" pitchFamily="2" charset="2"/>
                </a:rPr>
                <a:t>Apply: </a:t>
              </a:r>
              <a:r>
                <a:rPr kumimoji="1" lang="en-US" altLang="ja-JP" dirty="0">
                  <a:solidFill>
                    <a:prstClr val="black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Calibri"/>
                  <a:ea typeface="ＭＳ Ｐゴシック" panose="020B0600070205080204" pitchFamily="34" charset="-128"/>
                  <a:sym typeface="Wingdings" pitchFamily="2" charset="2"/>
                </a:rPr>
                <a:t>Mar,</a:t>
              </a:r>
              <a:r>
                <a:rPr kumimoji="1" lang="en-US" altLang="ja-JP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  <a:sym typeface="Wingdings" pitchFamily="2" charset="2"/>
                </a:rPr>
                <a:t>2021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A322C504-A3BD-476A-BB60-2CBE36348D72}"/>
              </a:ext>
            </a:extLst>
          </p:cNvPr>
          <p:cNvGrpSpPr/>
          <p:nvPr/>
        </p:nvGrpSpPr>
        <p:grpSpPr>
          <a:xfrm>
            <a:off x="35368" y="501724"/>
            <a:ext cx="9055998" cy="751685"/>
            <a:chOff x="35368" y="501724"/>
            <a:chExt cx="9055998" cy="751685"/>
          </a:xfrm>
        </p:grpSpPr>
        <p:sp>
          <p:nvSpPr>
            <p:cNvPr id="44" name="Rectangle 4">
              <a:extLst>
                <a:ext uri="{FF2B5EF4-FFF2-40B4-BE49-F238E27FC236}">
                  <a16:creationId xmlns:a16="http://schemas.microsoft.com/office/drawing/2014/main" id="{08A65B3F-E5CA-49E9-BA5C-3745844175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68" y="501724"/>
              <a:ext cx="9055998" cy="390641"/>
            </a:xfrm>
            <a:prstGeom prst="rect">
              <a:avLst/>
            </a:prstGeom>
            <a:gradFill rotWithShape="1">
              <a:gsLst>
                <a:gs pos="0">
                  <a:srgbClr val="FFFF99"/>
                </a:gs>
                <a:gs pos="50000">
                  <a:schemeClr val="bg1"/>
                </a:gs>
                <a:gs pos="100000">
                  <a:srgbClr val="FFFF99"/>
                </a:gs>
              </a:gsLst>
              <a:lin ang="2700000" scaled="1"/>
            </a:gra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Font typeface="Wingdings" pitchFamily="2" charset="2"/>
                <a:buChar char="Ø"/>
                <a:defRPr b="1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Font typeface="Wingdings" pitchFamily="2" charset="2"/>
                <a:buChar char="Ø"/>
                <a:defRPr b="1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Font typeface="Wingdings" pitchFamily="2" charset="2"/>
                <a:buChar char="Ø"/>
                <a:defRPr b="1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Font typeface="Wingdings" pitchFamily="2" charset="2"/>
                <a:buChar char="Ø"/>
                <a:defRPr b="1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>
                <a:spcBef>
                  <a:spcPct val="20000"/>
                </a:spcBef>
                <a:defRPr/>
              </a:pPr>
              <a:r>
                <a:rPr lang="en-US" altLang="ja-JP" sz="1400" dirty="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Make a new program for barcode generator</a:t>
              </a:r>
            </a:p>
          </p:txBody>
        </p:sp>
        <p:sp>
          <p:nvSpPr>
            <p:cNvPr id="31" name="AutoShape 6">
              <a:extLst>
                <a:ext uri="{FF2B5EF4-FFF2-40B4-BE49-F238E27FC236}">
                  <a16:creationId xmlns:a16="http://schemas.microsoft.com/office/drawing/2014/main" id="{7E28BD8B-8580-47C2-BB79-E8BF1FA109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04596" y="932872"/>
              <a:ext cx="2886770" cy="320537"/>
            </a:xfrm>
            <a:prstGeom prst="roundRect">
              <a:avLst>
                <a:gd name="adj" fmla="val 16667"/>
              </a:avLst>
            </a:prstGeom>
            <a:solidFill>
              <a:srgbClr val="FFFF99"/>
            </a:solidFill>
            <a:ln w="28575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 anchor="ctr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r">
                <a:spcBef>
                  <a:spcPct val="20000"/>
                </a:spcBef>
              </a:pPr>
              <a:r>
                <a:rPr kumimoji="1" lang="en-GB" altLang="ja-JP" sz="1400" b="1" dirty="0">
                  <a:solidFill>
                    <a:srgbClr val="00CC00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  <a:sym typeface="Wingdings" pitchFamily="2" charset="2"/>
                </a:rPr>
                <a:t>Save : $0.5K</a:t>
              </a:r>
              <a:r>
                <a:rPr kumimoji="1" lang="en-US" sz="1400" b="1" dirty="0">
                  <a:solidFill>
                    <a:srgbClr val="00CC00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panose="020B0604020202020204" pitchFamily="34" charset="0"/>
                  <a:ea typeface="ＭＳ Ｐゴシック" panose="020B0600070205080204" pitchFamily="34" charset="-128"/>
                  <a:cs typeface="Arial" panose="020B0604020202020204" pitchFamily="34" charset="0"/>
                  <a:sym typeface="Wingdings" panose="05000000000000000000" pitchFamily="2" charset="2"/>
                </a:rPr>
                <a:t>/Y</a:t>
              </a:r>
              <a:endParaRPr kumimoji="1" lang="en-US" altLang="ja-JP" sz="1400" b="1" dirty="0">
                <a:solidFill>
                  <a:srgbClr val="00CC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34" name="Rectangle 33">
            <a:extLst>
              <a:ext uri="{FF2B5EF4-FFF2-40B4-BE49-F238E27FC236}">
                <a16:creationId xmlns:a16="http://schemas.microsoft.com/office/drawing/2014/main" id="{D4CC3EF0-59DB-49ED-AAE2-E8EFB0DADA23}"/>
              </a:ext>
            </a:extLst>
          </p:cNvPr>
          <p:cNvSpPr/>
          <p:nvPr/>
        </p:nvSpPr>
        <p:spPr>
          <a:xfrm>
            <a:off x="1766914" y="2524994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Issue</a:t>
            </a:r>
            <a:endParaRPr lang="en-US" b="1">
              <a:solidFill>
                <a:schemeClr val="bg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9F3B3D4-A21F-41CC-885F-ECFB32F35D06}"/>
              </a:ext>
            </a:extLst>
          </p:cNvPr>
          <p:cNvSpPr/>
          <p:nvPr/>
        </p:nvSpPr>
        <p:spPr>
          <a:xfrm>
            <a:off x="275187" y="3071668"/>
            <a:ext cx="731139" cy="23004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User</a:t>
            </a:r>
          </a:p>
        </p:txBody>
      </p:sp>
      <p:pic>
        <p:nvPicPr>
          <p:cNvPr id="26" name="Picture 25" descr="Icon&#10;&#10;Description automatically generated">
            <a:extLst>
              <a:ext uri="{FF2B5EF4-FFF2-40B4-BE49-F238E27FC236}">
                <a16:creationId xmlns:a16="http://schemas.microsoft.com/office/drawing/2014/main" id="{6EE76DE2-33B1-449D-B025-7C942E6FE5C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9888" y="2362200"/>
            <a:ext cx="717467" cy="688931"/>
          </a:xfrm>
          <a:prstGeom prst="rect">
            <a:avLst/>
          </a:prstGeom>
        </p:spPr>
      </p:pic>
      <p:pic>
        <p:nvPicPr>
          <p:cNvPr id="28" name="Picture 27" descr="Icon&#10;&#10;Description automatically generated">
            <a:extLst>
              <a:ext uri="{FF2B5EF4-FFF2-40B4-BE49-F238E27FC236}">
                <a16:creationId xmlns:a16="http://schemas.microsoft.com/office/drawing/2014/main" id="{0AD29DBE-22ED-4BAB-9598-67F5CACD2F8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838" y="2440811"/>
            <a:ext cx="532562" cy="607189"/>
          </a:xfrm>
          <a:prstGeom prst="rect">
            <a:avLst/>
          </a:prstGeom>
        </p:spPr>
      </p:pic>
      <p:pic>
        <p:nvPicPr>
          <p:cNvPr id="29" name="Picture 28" descr="Icon&#10;&#10;Description automatically generated">
            <a:extLst>
              <a:ext uri="{FF2B5EF4-FFF2-40B4-BE49-F238E27FC236}">
                <a16:creationId xmlns:a16="http://schemas.microsoft.com/office/drawing/2014/main" id="{D22A6D3C-94A3-40BF-92C8-CBB2BC41532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187" y="2310233"/>
            <a:ext cx="781957" cy="813967"/>
          </a:xfrm>
          <a:prstGeom prst="rect">
            <a:avLst/>
          </a:prstGeom>
        </p:spPr>
      </p:pic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33876CDC-4A09-4F95-91A2-2DB7056E920E}"/>
              </a:ext>
            </a:extLst>
          </p:cNvPr>
          <p:cNvCxnSpPr>
            <a:cxnSpLocks/>
            <a:stCxn id="29" idx="3"/>
          </p:cNvCxnSpPr>
          <p:nvPr/>
        </p:nvCxnSpPr>
        <p:spPr>
          <a:xfrm>
            <a:off x="1057144" y="2717217"/>
            <a:ext cx="1089751" cy="1269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25C5520D-CD6B-4C6E-8168-5C7177CBF6AD}"/>
              </a:ext>
            </a:extLst>
          </p:cNvPr>
          <p:cNvCxnSpPr>
            <a:cxnSpLocks/>
          </p:cNvCxnSpPr>
          <p:nvPr/>
        </p:nvCxnSpPr>
        <p:spPr>
          <a:xfrm>
            <a:off x="2892716" y="2711191"/>
            <a:ext cx="686544" cy="1237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40" name="Picture 39">
            <a:extLst>
              <a:ext uri="{FF2B5EF4-FFF2-40B4-BE49-F238E27FC236}">
                <a16:creationId xmlns:a16="http://schemas.microsoft.com/office/drawing/2014/main" id="{8489B177-B555-4CA7-8D3F-790CF81C2FB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3738" y="2152861"/>
            <a:ext cx="383759" cy="356970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615A609B-8CC3-49D4-978D-3F5942D761D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74913" y="2130062"/>
            <a:ext cx="318513" cy="409386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726501EA-057D-448E-979B-0C5A8ADBAFB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46473" y="2065692"/>
            <a:ext cx="663668" cy="452437"/>
          </a:xfrm>
          <a:prstGeom prst="rect">
            <a:avLst/>
          </a:prstGeom>
        </p:spPr>
      </p:pic>
      <p:pic>
        <p:nvPicPr>
          <p:cNvPr id="47" name="Picture 46" descr="Icon&#10;&#10;Description automatically generated">
            <a:extLst>
              <a:ext uri="{FF2B5EF4-FFF2-40B4-BE49-F238E27FC236}">
                <a16:creationId xmlns:a16="http://schemas.microsoft.com/office/drawing/2014/main" id="{8B60221B-3989-4A0F-8D58-D87B82AC91F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607" y="4251764"/>
            <a:ext cx="722536" cy="752113"/>
          </a:xfrm>
          <a:prstGeom prst="rect">
            <a:avLst/>
          </a:prstGeom>
        </p:spPr>
      </p:pic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81526834-F517-4FC3-A9B7-26FF5DE68B61}"/>
              </a:ext>
            </a:extLst>
          </p:cNvPr>
          <p:cNvCxnSpPr>
            <a:cxnSpLocks/>
          </p:cNvCxnSpPr>
          <p:nvPr/>
        </p:nvCxnSpPr>
        <p:spPr>
          <a:xfrm>
            <a:off x="1189127" y="4693446"/>
            <a:ext cx="178267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49" name="Picture 48">
            <a:extLst>
              <a:ext uri="{FF2B5EF4-FFF2-40B4-BE49-F238E27FC236}">
                <a16:creationId xmlns:a16="http://schemas.microsoft.com/office/drawing/2014/main" id="{7CFF2834-B092-4CD5-AFDD-A57CE9DAE65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85187" y="4341382"/>
            <a:ext cx="517582" cy="665250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0AB9C18F-FA70-4AF0-9FA3-CB8B26F4BB3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46895" y="4191000"/>
            <a:ext cx="389256" cy="390799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A43AB80B-5922-4504-8993-6FA65AA39A8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92417" y="4208758"/>
            <a:ext cx="629515" cy="355281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69E09658-E870-4210-8713-7086AD099AF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648234" y="4674007"/>
            <a:ext cx="419789" cy="418431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5BCF11AB-FD2A-4EBE-8E68-D4E78A634BC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660833" y="4241028"/>
            <a:ext cx="453967" cy="40455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FE5F92D-BF66-4A8D-8C04-6A409BCECCBF}"/>
              </a:ext>
            </a:extLst>
          </p:cNvPr>
          <p:cNvSpPr txBox="1"/>
          <p:nvPr/>
        </p:nvSpPr>
        <p:spPr>
          <a:xfrm>
            <a:off x="186548" y="5105400"/>
            <a:ext cx="42330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b="1" dirty="0"/>
              <a:t>Prepare data on excel and  print barcode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b="1" dirty="0"/>
              <a:t>Can not make QR Code</a:t>
            </a:r>
            <a:endParaRPr lang="en-US" sz="1600" dirty="0"/>
          </a:p>
        </p:txBody>
      </p:sp>
      <p:pic>
        <p:nvPicPr>
          <p:cNvPr id="25" name="Picture 24" descr="A picture containing clipart&#10;&#10;Description automatically generated">
            <a:extLst>
              <a:ext uri="{FF2B5EF4-FFF2-40B4-BE49-F238E27FC236}">
                <a16:creationId xmlns:a16="http://schemas.microsoft.com/office/drawing/2014/main" id="{D150EE2C-BF66-4263-8037-26CADD0C2993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018" y="2114616"/>
            <a:ext cx="386251" cy="391234"/>
          </a:xfrm>
          <a:prstGeom prst="rect">
            <a:avLst/>
          </a:prstGeom>
        </p:spPr>
      </p:pic>
      <p:sp>
        <p:nvSpPr>
          <p:cNvPr id="54" name="Rectangle 53">
            <a:extLst>
              <a:ext uri="{FF2B5EF4-FFF2-40B4-BE49-F238E27FC236}">
                <a16:creationId xmlns:a16="http://schemas.microsoft.com/office/drawing/2014/main" id="{4094E360-CE95-4D24-AB98-1DC1944CDD92}"/>
              </a:ext>
            </a:extLst>
          </p:cNvPr>
          <p:cNvSpPr/>
          <p:nvPr/>
        </p:nvSpPr>
        <p:spPr>
          <a:xfrm>
            <a:off x="2146895" y="3054349"/>
            <a:ext cx="731139" cy="23004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IT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23FCAE84-3255-4B16-A575-2E8BEAF0E170}"/>
              </a:ext>
            </a:extLst>
          </p:cNvPr>
          <p:cNvSpPr/>
          <p:nvPr/>
        </p:nvSpPr>
        <p:spPr>
          <a:xfrm>
            <a:off x="3502769" y="3048000"/>
            <a:ext cx="731139" cy="23004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Database</a:t>
            </a:r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C1574843-F56B-4C30-96A9-A5D24674CA22}"/>
              </a:ext>
            </a:extLst>
          </p:cNvPr>
          <p:cNvPicPr>
            <a:picLocks noChangeAspect="1"/>
          </p:cNvPicPr>
          <p:nvPr/>
        </p:nvPicPr>
        <p:blipFill rotWithShape="1">
          <a:blip r:embed="rId14"/>
          <a:srcRect b="6000"/>
          <a:stretch/>
        </p:blipFill>
        <p:spPr>
          <a:xfrm>
            <a:off x="4612795" y="1901597"/>
            <a:ext cx="4337325" cy="2899003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C0D2F42D-D827-4F65-B9A8-B24938001609}"/>
              </a:ext>
            </a:extLst>
          </p:cNvPr>
          <p:cNvSpPr txBox="1"/>
          <p:nvPr/>
        </p:nvSpPr>
        <p:spPr>
          <a:xfrm>
            <a:off x="4664931" y="5002520"/>
            <a:ext cx="42330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b="1" dirty="0"/>
              <a:t>Receive user information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b="1" dirty="0"/>
              <a:t>Using program for barcode generator 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8DE0FB7-B89E-4911-880A-7D83B3484C24}"/>
              </a:ext>
            </a:extLst>
          </p:cNvPr>
          <p:cNvSpPr txBox="1"/>
          <p:nvPr/>
        </p:nvSpPr>
        <p:spPr>
          <a:xfrm>
            <a:off x="186548" y="3377625"/>
            <a:ext cx="42330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600" b="1" dirty="0"/>
              <a:t>User finding barcode item then send IT for error check</a:t>
            </a:r>
            <a:endParaRPr 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29227627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Picture 37">
            <a:extLst>
              <a:ext uri="{FF2B5EF4-FFF2-40B4-BE49-F238E27FC236}">
                <a16:creationId xmlns:a16="http://schemas.microsoft.com/office/drawing/2014/main" id="{E6784FDC-F504-4EFE-840F-DC253C30D3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7596" y="1981200"/>
            <a:ext cx="3904220" cy="2195473"/>
          </a:xfrm>
          <a:prstGeom prst="rect">
            <a:avLst/>
          </a:prstGeom>
        </p:spPr>
      </p:pic>
      <p:sp>
        <p:nvSpPr>
          <p:cNvPr id="9" name="AutoShape 2"/>
          <p:cNvSpPr>
            <a:spLocks noChangeArrowheads="1"/>
          </p:cNvSpPr>
          <p:nvPr/>
        </p:nvSpPr>
        <p:spPr bwMode="auto">
          <a:xfrm>
            <a:off x="65818" y="1507240"/>
            <a:ext cx="4353782" cy="4368436"/>
          </a:xfrm>
          <a:prstGeom prst="roundRect">
            <a:avLst>
              <a:gd name="adj" fmla="val 5551"/>
            </a:avLst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0" name="Text Box 4"/>
          <p:cNvSpPr txBox="1">
            <a:spLocks noChangeArrowheads="1"/>
          </p:cNvSpPr>
          <p:nvPr/>
        </p:nvSpPr>
        <p:spPr bwMode="auto">
          <a:xfrm>
            <a:off x="1089755" y="1315893"/>
            <a:ext cx="2305050" cy="425450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outerShdw dist="107763" dir="189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ＭＳ Ｐゴシック" pitchFamily="34" charset="-128"/>
                <a:ea typeface="ＭＳ Ｐゴシック" panose="020B0600070205080204" pitchFamily="34" charset="-128"/>
                <a:cs typeface="+mn-cs"/>
              </a:rPr>
              <a:t>◆</a:t>
            </a:r>
            <a:r>
              <a:rPr kumimoji="1" lang="en-US" altLang="ja-JP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ＭＳ Ｐゴシック" pitchFamily="34" charset="-128"/>
                <a:ea typeface="ＭＳ Ｐゴシック" panose="020B0600070205080204" pitchFamily="34" charset="-128"/>
                <a:cs typeface="+mn-cs"/>
              </a:rPr>
              <a:t>Before</a:t>
            </a:r>
          </a:p>
        </p:txBody>
      </p:sp>
      <p:sp>
        <p:nvSpPr>
          <p:cNvPr id="66" name="AutoShape 3"/>
          <p:cNvSpPr>
            <a:spLocks noChangeArrowheads="1"/>
          </p:cNvSpPr>
          <p:nvPr/>
        </p:nvSpPr>
        <p:spPr bwMode="auto">
          <a:xfrm>
            <a:off x="4514850" y="1507240"/>
            <a:ext cx="4576516" cy="4362086"/>
          </a:xfrm>
          <a:prstGeom prst="roundRect">
            <a:avLst>
              <a:gd name="adj" fmla="val 5551"/>
            </a:avLst>
          </a:prstGeom>
          <a:noFill/>
          <a:ln w="2857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67" name="Text Box 5"/>
          <p:cNvSpPr txBox="1">
            <a:spLocks noChangeArrowheads="1"/>
          </p:cNvSpPr>
          <p:nvPr/>
        </p:nvSpPr>
        <p:spPr bwMode="auto">
          <a:xfrm>
            <a:off x="5619750" y="1315893"/>
            <a:ext cx="2305050" cy="425450"/>
          </a:xfrm>
          <a:prstGeom prst="rect">
            <a:avLst/>
          </a:prstGeom>
          <a:solidFill>
            <a:srgbClr val="0000FF"/>
          </a:solidFill>
          <a:ln>
            <a:noFill/>
          </a:ln>
          <a:effectLst>
            <a:outerShdw dist="107763" dir="18900000" algn="ctr" rotWithShape="0">
              <a:schemeClr val="bg2">
                <a:alpha val="50000"/>
              </a:schemeClr>
            </a:outerShdw>
          </a:effectLst>
        </p:spPr>
        <p:txBody>
          <a:bodyPr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ＭＳ Ｐゴシック" pitchFamily="34" charset="-128"/>
                <a:ea typeface="ＭＳ Ｐゴシック" panose="020B0600070205080204" pitchFamily="34" charset="-128"/>
                <a:cs typeface="+mn-cs"/>
              </a:rPr>
              <a:t>◆ </a:t>
            </a:r>
            <a:r>
              <a:rPr kumimoji="1" lang="en-US" altLang="ja-JP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ＭＳ Ｐゴシック" pitchFamily="34" charset="-128"/>
                <a:ea typeface="ＭＳ Ｐゴシック" panose="020B0600070205080204" pitchFamily="34" charset="-128"/>
                <a:cs typeface="+mn-cs"/>
              </a:rPr>
              <a:t>After </a:t>
            </a:r>
            <a:endParaRPr kumimoji="1" lang="en-US" altLang="ja-JP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ＭＳ Ｐゴシック" pitchFamily="34" charset="-128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42" name="Text Box 2">
            <a:extLst>
              <a:ext uri="{FF2B5EF4-FFF2-40B4-BE49-F238E27FC236}">
                <a16:creationId xmlns:a16="http://schemas.microsoft.com/office/drawing/2014/main" id="{C56CF688-0247-4393-B600-439F24E4C8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314" y="36562"/>
            <a:ext cx="9094680" cy="424529"/>
          </a:xfrm>
          <a:prstGeom prst="rect">
            <a:avLst/>
          </a:prstGeom>
          <a:solidFill>
            <a:srgbClr val="0000B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40069" tIns="20035" rIns="40069" bIns="20035" anchor="ctr" anchorCtr="1"/>
          <a:lstStyle>
            <a:defPPr>
              <a:defRPr lang="en-US"/>
            </a:defPPr>
            <a:lvl1pPr>
              <a:lnSpc>
                <a:spcPct val="90000"/>
              </a:lnSpc>
              <a:defRPr sz="2000" b="1" cap="all">
                <a:solidFill>
                  <a:prstClr val="white">
                    <a:lumMod val="9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ja-JP" dirty="0"/>
              <a:t>FILE CONTROL &amp; disk space CHECKING</a:t>
            </a:r>
          </a:p>
        </p:txBody>
      </p:sp>
      <p:sp>
        <p:nvSpPr>
          <p:cNvPr id="43" name="Rectangle 59">
            <a:extLst>
              <a:ext uri="{FF2B5EF4-FFF2-40B4-BE49-F238E27FC236}">
                <a16:creationId xmlns:a16="http://schemas.microsoft.com/office/drawing/2014/main" id="{CCB57E51-4993-4A8A-A19D-CCD70B3ADC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49058" y="123641"/>
            <a:ext cx="871330" cy="271154"/>
          </a:xfrm>
          <a:prstGeom prst="rect">
            <a:avLst/>
          </a:prstGeom>
          <a:solidFill>
            <a:srgbClr val="000099"/>
          </a:solidFill>
          <a:ln w="2857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vi-VN" sz="1400" b="1" dirty="0">
                <a:solidFill>
                  <a:srgbClr val="FFFFFF"/>
                </a:solidFill>
              </a:rPr>
              <a:t>2</a:t>
            </a:r>
            <a:r>
              <a:rPr kumimoji="0" lang="en-US" altLang="vi-VN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/5</a:t>
            </a:r>
          </a:p>
        </p:txBody>
      </p:sp>
      <p:sp>
        <p:nvSpPr>
          <p:cNvPr id="27" name="AutoShape 6"/>
          <p:cNvSpPr>
            <a:spLocks noChangeArrowheads="1"/>
          </p:cNvSpPr>
          <p:nvPr/>
        </p:nvSpPr>
        <p:spPr bwMode="auto">
          <a:xfrm>
            <a:off x="4542952" y="5948339"/>
            <a:ext cx="4552950" cy="809625"/>
          </a:xfrm>
          <a:prstGeom prst="roundRect">
            <a:avLst>
              <a:gd name="adj" fmla="val 16667"/>
            </a:avLst>
          </a:prstGeom>
          <a:solidFill>
            <a:srgbClr val="FFFF99"/>
          </a:solidFill>
          <a:ln w="28575">
            <a:solidFill>
              <a:srgbClr val="0000FF"/>
            </a:solidFill>
            <a:round/>
            <a:headEnd/>
            <a:tailEnd/>
          </a:ln>
        </p:spPr>
        <p:txBody>
          <a:bodyPr anchor="ctr"/>
          <a:lstStyle>
            <a:lvl1pPr marL="285750" indent="-285750" eaLnBrk="0" hangingPunct="0">
              <a:defRPr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eaLnBrk="0" hangingPunct="0">
              <a:defRPr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eaLnBrk="0" hangingPunct="0">
              <a:defRPr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eaLnBrk="0" hangingPunct="0">
              <a:defRPr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eaLnBrk="0" hangingPunct="0">
              <a:defRPr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eaLnBrk="0" fontAlgn="base" hangingPunct="0">
              <a:spcBef>
                <a:spcPct val="50000"/>
              </a:spcBef>
              <a:spcAft>
                <a:spcPct val="0"/>
              </a:spcAft>
              <a:buFont typeface="Wingdings" pitchFamily="2" charset="2"/>
              <a:buChar char="Ø"/>
              <a:defRPr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eaLnBrk="0" fontAlgn="base" hangingPunct="0">
              <a:spcBef>
                <a:spcPct val="50000"/>
              </a:spcBef>
              <a:spcAft>
                <a:spcPct val="0"/>
              </a:spcAft>
              <a:buFont typeface="Wingdings" pitchFamily="2" charset="2"/>
              <a:buChar char="Ø"/>
              <a:defRPr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eaLnBrk="0" fontAlgn="base" hangingPunct="0">
              <a:spcBef>
                <a:spcPct val="50000"/>
              </a:spcBef>
              <a:spcAft>
                <a:spcPct val="0"/>
              </a:spcAft>
              <a:buFont typeface="Wingdings" pitchFamily="2" charset="2"/>
              <a:buChar char="Ø"/>
              <a:defRPr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eaLnBrk="0" fontAlgn="base" hangingPunct="0">
              <a:spcBef>
                <a:spcPct val="50000"/>
              </a:spcBef>
              <a:spcAft>
                <a:spcPct val="0"/>
              </a:spcAft>
              <a:buFont typeface="Wingdings" pitchFamily="2" charset="2"/>
              <a:buChar char="Ø"/>
              <a:defRPr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R="0" lvl="0" algn="l" defTabSz="914400" rtl="0" eaLnBrk="0" fontAlgn="auto" latinLnBrk="0" hangingPunct="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Software using </a:t>
            </a:r>
          </a:p>
          <a:p>
            <a:pPr marR="0" lvl="0" algn="l" defTabSz="914400" rtl="0" eaLnBrk="0" fontAlgn="auto" latinLnBrk="0" hangingPunct="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sz="1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Save time: 200h/Year(0.8K/Year)</a:t>
            </a:r>
          </a:p>
        </p:txBody>
      </p:sp>
      <p:sp>
        <p:nvSpPr>
          <p:cNvPr id="19" name="AutoShape 6">
            <a:extLst>
              <a:ext uri="{FF2B5EF4-FFF2-40B4-BE49-F238E27FC236}">
                <a16:creationId xmlns:a16="http://schemas.microsoft.com/office/drawing/2014/main" id="{3F473890-381A-44AB-A550-68C6E32A6F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1" y="5958591"/>
            <a:ext cx="4343399" cy="823209"/>
          </a:xfrm>
          <a:prstGeom prst="roundRect">
            <a:avLst>
              <a:gd name="adj" fmla="val 16667"/>
            </a:avLst>
          </a:prstGeom>
          <a:solidFill>
            <a:srgbClr val="FFFF99"/>
          </a:solidFill>
          <a:ln w="28575">
            <a:solidFill>
              <a:srgbClr val="FF0000"/>
            </a:solidFill>
            <a:round/>
            <a:headEnd/>
            <a:tailEnd/>
          </a:ln>
        </p:spPr>
        <p:txBody>
          <a:bodyPr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Manual checking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Can not find huge file, folder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24E9E12-2354-4CC6-B289-3B2838738257}"/>
              </a:ext>
            </a:extLst>
          </p:cNvPr>
          <p:cNvGrpSpPr/>
          <p:nvPr/>
        </p:nvGrpSpPr>
        <p:grpSpPr>
          <a:xfrm>
            <a:off x="52634" y="931825"/>
            <a:ext cx="6119566" cy="321492"/>
            <a:chOff x="52634" y="931825"/>
            <a:chExt cx="6119566" cy="321492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636315FB-AA16-4931-AD00-186957B9449E}"/>
                </a:ext>
              </a:extLst>
            </p:cNvPr>
            <p:cNvGrpSpPr/>
            <p:nvPr/>
          </p:nvGrpSpPr>
          <p:grpSpPr>
            <a:xfrm>
              <a:off x="52634" y="931825"/>
              <a:ext cx="6119566" cy="321492"/>
              <a:chOff x="2107078" y="961572"/>
              <a:chExt cx="4676487" cy="274320"/>
            </a:xfrm>
          </p:grpSpPr>
          <p:sp>
            <p:nvSpPr>
              <p:cNvPr id="21" name="AutoShape 6">
                <a:extLst>
                  <a:ext uri="{FF2B5EF4-FFF2-40B4-BE49-F238E27FC236}">
                    <a16:creationId xmlns:a16="http://schemas.microsoft.com/office/drawing/2014/main" id="{6D51908F-EF05-4D65-B13B-F44BDFFBD9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07078" y="962132"/>
                <a:ext cx="1856644" cy="273760"/>
              </a:xfrm>
              <a:prstGeom prst="roundRect">
                <a:avLst>
                  <a:gd name="adj" fmla="val 16667"/>
                </a:avLst>
              </a:prstGeom>
              <a:solidFill>
                <a:srgbClr val="FFFF99"/>
              </a:solidFill>
              <a:ln w="28575">
                <a:solidFill>
                  <a:srgbClr val="0000FF"/>
                </a:solidFill>
                <a:round/>
                <a:headEnd/>
                <a:tailEnd/>
              </a:ln>
              <a:effectLst/>
            </p:spPr>
            <p:txBody>
              <a:bodyPr anchor="ctr"/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ja-JP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>
                      <a:outerShdw blurRad="38100" dist="38100" dir="2700000" algn="tl">
                        <a:srgbClr val="FFFFFF"/>
                      </a:outerShdw>
                    </a:effectLst>
                    <a:uLnTx/>
                    <a:uFillTx/>
                    <a:latin typeface="Calibri"/>
                    <a:ea typeface="ＭＳ Ｐゴシック" panose="020B0600070205080204" pitchFamily="34" charset="-128"/>
                    <a:cs typeface="+mn-cs"/>
                    <a:sym typeface="Wingdings" pitchFamily="2" charset="2"/>
                  </a:rPr>
                  <a:t>Developer: </a:t>
                </a:r>
                <a:r>
                  <a:rPr kumimoji="1" lang="en-US" altLang="ja-JP" dirty="0">
                    <a:solidFill>
                      <a:prstClr val="black"/>
                    </a:solidFill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Calibri"/>
                    <a:ea typeface="ＭＳ Ｐゴシック" panose="020B0600070205080204" pitchFamily="34" charset="-128"/>
                    <a:sym typeface="Wingdings" pitchFamily="2" charset="2"/>
                  </a:rPr>
                  <a:t>Dev Team</a:t>
                </a:r>
                <a:endParaRPr kumimoji="1" lang="en-US" altLang="ja-JP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  <a:sym typeface="Wingdings" pitchFamily="2" charset="2"/>
                </a:endParaRPr>
              </a:p>
            </p:txBody>
          </p:sp>
          <p:sp>
            <p:nvSpPr>
              <p:cNvPr id="22" name="AutoShape 6">
                <a:extLst>
                  <a:ext uri="{FF2B5EF4-FFF2-40B4-BE49-F238E27FC236}">
                    <a16:creationId xmlns:a16="http://schemas.microsoft.com/office/drawing/2014/main" id="{ADDF6A9E-3A0C-4018-947B-3D3BD39FF9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45851" y="961572"/>
                <a:ext cx="1037714" cy="274320"/>
              </a:xfrm>
              <a:prstGeom prst="roundRect">
                <a:avLst>
                  <a:gd name="adj" fmla="val 16667"/>
                </a:avLst>
              </a:prstGeom>
              <a:solidFill>
                <a:srgbClr val="FFFF99"/>
              </a:solidFill>
              <a:ln w="28575">
                <a:solidFill>
                  <a:srgbClr val="0000FF"/>
                </a:solidFill>
                <a:round/>
                <a:headEnd/>
                <a:tailEnd/>
              </a:ln>
              <a:effectLst/>
            </p:spPr>
            <p:txBody>
              <a:bodyPr anchor="ctr"/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ja-JP" sz="11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>
                      <a:outerShdw blurRad="38100" dist="38100" dir="2700000" algn="tl">
                        <a:srgbClr val="FFFFFF"/>
                      </a:outerShdw>
                    </a:effectLst>
                    <a:uLnTx/>
                    <a:uFillTx/>
                    <a:latin typeface="Calibri"/>
                    <a:ea typeface="ＭＳ Ｐゴシック" panose="020B0600070205080204" pitchFamily="34" charset="-128"/>
                    <a:cs typeface="+mn-cs"/>
                    <a:sym typeface="Wingdings" pitchFamily="2" charset="2"/>
                  </a:rPr>
                  <a:t>Expense: 0 </a:t>
                </a:r>
                <a:endParaRPr kumimoji="1" lang="en-US" altLang="ja-JP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  <a:sym typeface="Wingdings" pitchFamily="2" charset="2"/>
                </a:endParaRPr>
              </a:p>
            </p:txBody>
          </p:sp>
        </p:grpSp>
        <p:sp>
          <p:nvSpPr>
            <p:cNvPr id="20" name="AutoShape 6">
              <a:extLst>
                <a:ext uri="{FF2B5EF4-FFF2-40B4-BE49-F238E27FC236}">
                  <a16:creationId xmlns:a16="http://schemas.microsoft.com/office/drawing/2014/main" id="{AF45FE8A-7925-45FA-BA93-C22C482756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4601" y="931825"/>
              <a:ext cx="2267269" cy="321492"/>
            </a:xfrm>
            <a:prstGeom prst="roundRect">
              <a:avLst>
                <a:gd name="adj" fmla="val 16667"/>
              </a:avLst>
            </a:prstGeom>
            <a:solidFill>
              <a:srgbClr val="FFFF99"/>
            </a:solidFill>
            <a:ln w="28575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 anchor="ctr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  <a:sym typeface="Wingdings" pitchFamily="2" charset="2"/>
                </a:rPr>
                <a:t>Apply: </a:t>
              </a:r>
              <a:r>
                <a:rPr kumimoji="1" lang="en-US" altLang="ja-JP" dirty="0">
                  <a:solidFill>
                    <a:prstClr val="black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Calibri"/>
                  <a:ea typeface="ＭＳ Ｐゴシック" panose="020B0600070205080204" pitchFamily="34" charset="-128"/>
                  <a:sym typeface="Wingdings" pitchFamily="2" charset="2"/>
                </a:rPr>
                <a:t>Apr,</a:t>
              </a:r>
              <a:r>
                <a:rPr kumimoji="1" lang="en-US" altLang="ja-JP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  <a:sym typeface="Wingdings" pitchFamily="2" charset="2"/>
                </a:rPr>
                <a:t>2021</a:t>
              </a: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C3C6C2F0-6910-45D0-BC07-194FDAB20AF5}"/>
              </a:ext>
            </a:extLst>
          </p:cNvPr>
          <p:cNvSpPr/>
          <p:nvPr/>
        </p:nvSpPr>
        <p:spPr>
          <a:xfrm>
            <a:off x="974284" y="5192330"/>
            <a:ext cx="260497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2000" b="1">
                <a:solidFill>
                  <a:schemeClr val="bg1"/>
                </a:solidFill>
              </a:rPr>
              <a:t>Delete manually</a:t>
            </a:r>
            <a:endParaRPr lang="en-US" sz="2000" b="1">
              <a:solidFill>
                <a:schemeClr val="bg1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322C504-A3BD-476A-BB60-2CBE36348D72}"/>
              </a:ext>
            </a:extLst>
          </p:cNvPr>
          <p:cNvGrpSpPr/>
          <p:nvPr/>
        </p:nvGrpSpPr>
        <p:grpSpPr>
          <a:xfrm>
            <a:off x="35368" y="501724"/>
            <a:ext cx="9055998" cy="751685"/>
            <a:chOff x="35368" y="501724"/>
            <a:chExt cx="9055998" cy="751685"/>
          </a:xfrm>
        </p:grpSpPr>
        <p:sp>
          <p:nvSpPr>
            <p:cNvPr id="44" name="Rectangle 4">
              <a:extLst>
                <a:ext uri="{FF2B5EF4-FFF2-40B4-BE49-F238E27FC236}">
                  <a16:creationId xmlns:a16="http://schemas.microsoft.com/office/drawing/2014/main" id="{08A65B3F-E5CA-49E9-BA5C-3745844175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68" y="501724"/>
              <a:ext cx="9055998" cy="390641"/>
            </a:xfrm>
            <a:prstGeom prst="rect">
              <a:avLst/>
            </a:prstGeom>
            <a:gradFill rotWithShape="1">
              <a:gsLst>
                <a:gs pos="0">
                  <a:srgbClr val="FFFF99"/>
                </a:gs>
                <a:gs pos="50000">
                  <a:schemeClr val="bg1"/>
                </a:gs>
                <a:gs pos="100000">
                  <a:srgbClr val="FFFF99"/>
                </a:gs>
              </a:gsLst>
              <a:lin ang="2700000" scaled="1"/>
            </a:gra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Font typeface="Wingdings" pitchFamily="2" charset="2"/>
                <a:buChar char="Ø"/>
                <a:defRPr b="1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Font typeface="Wingdings" pitchFamily="2" charset="2"/>
                <a:buChar char="Ø"/>
                <a:defRPr b="1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Font typeface="Wingdings" pitchFamily="2" charset="2"/>
                <a:buChar char="Ø"/>
                <a:defRPr b="1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Font typeface="Wingdings" pitchFamily="2" charset="2"/>
                <a:buChar char="Ø"/>
                <a:defRPr b="1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>
                <a:spcBef>
                  <a:spcPct val="20000"/>
                </a:spcBef>
                <a:defRPr/>
              </a:pPr>
              <a:r>
                <a:rPr lang="en-US" altLang="ja-JP" sz="1400" dirty="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Check the hard drives and all you see</a:t>
              </a:r>
            </a:p>
          </p:txBody>
        </p:sp>
        <p:sp>
          <p:nvSpPr>
            <p:cNvPr id="31" name="AutoShape 6">
              <a:extLst>
                <a:ext uri="{FF2B5EF4-FFF2-40B4-BE49-F238E27FC236}">
                  <a16:creationId xmlns:a16="http://schemas.microsoft.com/office/drawing/2014/main" id="{7E28BD8B-8580-47C2-BB79-E8BF1FA109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04596" y="932872"/>
              <a:ext cx="2886770" cy="320537"/>
            </a:xfrm>
            <a:prstGeom prst="roundRect">
              <a:avLst>
                <a:gd name="adj" fmla="val 16667"/>
              </a:avLst>
            </a:prstGeom>
            <a:solidFill>
              <a:srgbClr val="FFFF99"/>
            </a:solidFill>
            <a:ln w="28575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 anchor="ctr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r">
                <a:spcBef>
                  <a:spcPct val="20000"/>
                </a:spcBef>
              </a:pPr>
              <a:r>
                <a:rPr kumimoji="1" lang="en-GB" altLang="ja-JP" sz="1400" b="1" dirty="0">
                  <a:solidFill>
                    <a:srgbClr val="00CC00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  <a:sym typeface="Wingdings" pitchFamily="2" charset="2"/>
                </a:rPr>
                <a:t>Save : </a:t>
              </a:r>
              <a:r>
                <a:rPr kumimoji="1" lang="en-US" sz="1400" b="1" dirty="0">
                  <a:solidFill>
                    <a:srgbClr val="00CC00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panose="020B0604020202020204" pitchFamily="34" charset="0"/>
                  <a:ea typeface="ＭＳ Ｐゴシック" panose="020B0600070205080204" pitchFamily="34" charset="-128"/>
                  <a:cs typeface="Arial" panose="020B0604020202020204" pitchFamily="34" charset="0"/>
                  <a:sym typeface="Wingdings" panose="05000000000000000000" pitchFamily="2" charset="2"/>
                </a:rPr>
                <a:t>$0.8K/Y</a:t>
              </a:r>
              <a:endParaRPr kumimoji="1" lang="en-US" altLang="ja-JP" sz="1400" b="1" dirty="0">
                <a:solidFill>
                  <a:srgbClr val="00CC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34" name="Rectangle 33">
            <a:extLst>
              <a:ext uri="{FF2B5EF4-FFF2-40B4-BE49-F238E27FC236}">
                <a16:creationId xmlns:a16="http://schemas.microsoft.com/office/drawing/2014/main" id="{D4CC3EF0-59DB-49ED-AAE2-E8EFB0DADA23}"/>
              </a:ext>
            </a:extLst>
          </p:cNvPr>
          <p:cNvSpPr/>
          <p:nvPr/>
        </p:nvSpPr>
        <p:spPr>
          <a:xfrm>
            <a:off x="1766914" y="2524994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Issue</a:t>
            </a:r>
            <a:endParaRPr lang="en-US" b="1">
              <a:solidFill>
                <a:schemeClr val="bg1"/>
              </a:solidFill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D0D552F4-6898-4C33-A3E2-A6ADE7379EC0}"/>
              </a:ext>
            </a:extLst>
          </p:cNvPr>
          <p:cNvGrpSpPr/>
          <p:nvPr/>
        </p:nvGrpSpPr>
        <p:grpSpPr>
          <a:xfrm>
            <a:off x="5153575" y="3740064"/>
            <a:ext cx="2695353" cy="1215296"/>
            <a:chOff x="844599" y="4026487"/>
            <a:chExt cx="2695353" cy="1215296"/>
          </a:xfrm>
        </p:grpSpPr>
        <p:sp>
          <p:nvSpPr>
            <p:cNvPr id="29" name="Explosion: 14 Points 28">
              <a:extLst>
                <a:ext uri="{FF2B5EF4-FFF2-40B4-BE49-F238E27FC236}">
                  <a16:creationId xmlns:a16="http://schemas.microsoft.com/office/drawing/2014/main" id="{CE9AEDFC-DB00-4D50-B8C6-AC55158092FB}"/>
                </a:ext>
              </a:extLst>
            </p:cNvPr>
            <p:cNvSpPr/>
            <p:nvPr/>
          </p:nvSpPr>
          <p:spPr>
            <a:xfrm rot="634395">
              <a:off x="844599" y="4026487"/>
              <a:ext cx="2695353" cy="1215296"/>
            </a:xfrm>
            <a:prstGeom prst="irregularSeal2">
              <a:avLst/>
            </a:prstGeom>
            <a:solidFill>
              <a:srgbClr val="1717F7"/>
            </a:solidFill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4A9081DE-4A81-47D4-917C-12B71FD7D794}"/>
                </a:ext>
              </a:extLst>
            </p:cNvPr>
            <p:cNvSpPr/>
            <p:nvPr/>
          </p:nvSpPr>
          <p:spPr>
            <a:xfrm>
              <a:off x="1292307" y="4350074"/>
              <a:ext cx="1886794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GB" sz="16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Check by software</a:t>
              </a:r>
              <a:endParaRPr lang="en-US" sz="1600" b="1" dirty="0">
                <a:solidFill>
                  <a:schemeClr val="bg1"/>
                </a:solidFill>
              </a:endParaRPr>
            </a:p>
          </p:txBody>
        </p:sp>
      </p:grpSp>
      <p:pic>
        <p:nvPicPr>
          <p:cNvPr id="33" name="Picture 32">
            <a:extLst>
              <a:ext uri="{FF2B5EF4-FFF2-40B4-BE49-F238E27FC236}">
                <a16:creationId xmlns:a16="http://schemas.microsoft.com/office/drawing/2014/main" id="{F13BF12D-8CA3-472C-B122-0B8FB29749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8972" y="1981200"/>
            <a:ext cx="3964703" cy="742111"/>
          </a:xfrm>
          <a:prstGeom prst="rect">
            <a:avLst/>
          </a:prstGeom>
        </p:spPr>
      </p:pic>
      <p:sp>
        <p:nvSpPr>
          <p:cNvPr id="39" name="Rectangle 38">
            <a:extLst>
              <a:ext uri="{FF2B5EF4-FFF2-40B4-BE49-F238E27FC236}">
                <a16:creationId xmlns:a16="http://schemas.microsoft.com/office/drawing/2014/main" id="{C05151ED-92C1-4AAB-A5B7-C754EA244A74}"/>
              </a:ext>
            </a:extLst>
          </p:cNvPr>
          <p:cNvSpPr/>
          <p:nvPr/>
        </p:nvSpPr>
        <p:spPr>
          <a:xfrm>
            <a:off x="1031640" y="5142100"/>
            <a:ext cx="260497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2000" b="1" dirty="0">
                <a:solidFill>
                  <a:schemeClr val="bg1"/>
                </a:solidFill>
              </a:rPr>
              <a:t>Check manually</a:t>
            </a:r>
            <a:endParaRPr lang="en-US" sz="2000" b="1" dirty="0">
              <a:solidFill>
                <a:schemeClr val="bg1"/>
              </a:solidFill>
            </a:endParaRP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7BC9B199-BFA7-4061-B9EA-1DA337408C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16682" y="2876121"/>
            <a:ext cx="1931046" cy="1832214"/>
          </a:xfrm>
          <a:prstGeom prst="rect">
            <a:avLst/>
          </a:prstGeom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E8166F41-AAD3-405A-8888-5D3D485C0F8B}"/>
              </a:ext>
            </a:extLst>
          </p:cNvPr>
          <p:cNvSpPr txBox="1"/>
          <p:nvPr/>
        </p:nvSpPr>
        <p:spPr>
          <a:xfrm>
            <a:off x="234173" y="4899619"/>
            <a:ext cx="42330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b="1" dirty="0"/>
              <a:t>Manual checking disk space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b="1" dirty="0"/>
              <a:t>Manual finding no use file, largest file</a:t>
            </a:r>
            <a:endParaRPr lang="en-US" sz="1600" dirty="0"/>
          </a:p>
        </p:txBody>
      </p:sp>
      <p:sp>
        <p:nvSpPr>
          <p:cNvPr id="46" name="Explosion: 14 Points 45">
            <a:extLst>
              <a:ext uri="{FF2B5EF4-FFF2-40B4-BE49-F238E27FC236}">
                <a16:creationId xmlns:a16="http://schemas.microsoft.com/office/drawing/2014/main" id="{22BD3D6C-D03C-4807-84E6-18EAF0E5DAC2}"/>
              </a:ext>
            </a:extLst>
          </p:cNvPr>
          <p:cNvSpPr/>
          <p:nvPr/>
        </p:nvSpPr>
        <p:spPr>
          <a:xfrm rot="723761">
            <a:off x="389221" y="3638618"/>
            <a:ext cx="1587477" cy="1117095"/>
          </a:xfrm>
          <a:prstGeom prst="irregularSeal2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23514522-22DD-4C99-8786-7C93E0868270}"/>
              </a:ext>
            </a:extLst>
          </p:cNvPr>
          <p:cNvSpPr/>
          <p:nvPr/>
        </p:nvSpPr>
        <p:spPr>
          <a:xfrm>
            <a:off x="119870" y="4023070"/>
            <a:ext cx="205368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b="1" dirty="0">
                <a:solidFill>
                  <a:schemeClr val="bg1"/>
                </a:solidFill>
              </a:rPr>
              <a:t>Manual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0105D49-9D53-4D56-9BDB-894E79E37278}"/>
              </a:ext>
            </a:extLst>
          </p:cNvPr>
          <p:cNvSpPr txBox="1"/>
          <p:nvPr/>
        </p:nvSpPr>
        <p:spPr>
          <a:xfrm>
            <a:off x="4634042" y="4909257"/>
            <a:ext cx="42330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b="1" dirty="0"/>
              <a:t>Easy to check disk space &amp; capacity folder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b="1" dirty="0"/>
              <a:t>Easy to find no use file, largest file, temp file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b="1" dirty="0"/>
              <a:t>Easy to server clean, space release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8687491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AutoShape 2"/>
          <p:cNvSpPr>
            <a:spLocks noChangeArrowheads="1"/>
          </p:cNvSpPr>
          <p:nvPr/>
        </p:nvSpPr>
        <p:spPr bwMode="auto">
          <a:xfrm>
            <a:off x="65818" y="1507240"/>
            <a:ext cx="4353782" cy="4368436"/>
          </a:xfrm>
          <a:prstGeom prst="roundRect">
            <a:avLst>
              <a:gd name="adj" fmla="val 5551"/>
            </a:avLst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0" name="Text Box 4"/>
          <p:cNvSpPr txBox="1">
            <a:spLocks noChangeArrowheads="1"/>
          </p:cNvSpPr>
          <p:nvPr/>
        </p:nvSpPr>
        <p:spPr bwMode="auto">
          <a:xfrm>
            <a:off x="1089755" y="1315893"/>
            <a:ext cx="2305050" cy="425450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outerShdw dist="107763" dir="189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ＭＳ Ｐゴシック" pitchFamily="34" charset="-128"/>
                <a:ea typeface="ＭＳ Ｐゴシック" panose="020B0600070205080204" pitchFamily="34" charset="-128"/>
                <a:cs typeface="+mn-cs"/>
              </a:rPr>
              <a:t>◆</a:t>
            </a:r>
            <a:r>
              <a:rPr kumimoji="1" lang="en-US" altLang="ja-JP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ＭＳ Ｐゴシック" pitchFamily="34" charset="-128"/>
                <a:ea typeface="ＭＳ Ｐゴシック" panose="020B0600070205080204" pitchFamily="34" charset="-128"/>
                <a:cs typeface="+mn-cs"/>
              </a:rPr>
              <a:t>Before</a:t>
            </a:r>
          </a:p>
        </p:txBody>
      </p:sp>
      <p:sp>
        <p:nvSpPr>
          <p:cNvPr id="66" name="AutoShape 3"/>
          <p:cNvSpPr>
            <a:spLocks noChangeArrowheads="1"/>
          </p:cNvSpPr>
          <p:nvPr/>
        </p:nvSpPr>
        <p:spPr bwMode="auto">
          <a:xfrm>
            <a:off x="4514850" y="1507240"/>
            <a:ext cx="4576516" cy="4362086"/>
          </a:xfrm>
          <a:prstGeom prst="roundRect">
            <a:avLst>
              <a:gd name="adj" fmla="val 5551"/>
            </a:avLst>
          </a:prstGeom>
          <a:noFill/>
          <a:ln w="2857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67" name="Text Box 5"/>
          <p:cNvSpPr txBox="1">
            <a:spLocks noChangeArrowheads="1"/>
          </p:cNvSpPr>
          <p:nvPr/>
        </p:nvSpPr>
        <p:spPr bwMode="auto">
          <a:xfrm>
            <a:off x="5619750" y="1315893"/>
            <a:ext cx="2305050" cy="425450"/>
          </a:xfrm>
          <a:prstGeom prst="rect">
            <a:avLst/>
          </a:prstGeom>
          <a:solidFill>
            <a:srgbClr val="0000FF"/>
          </a:solidFill>
          <a:ln>
            <a:noFill/>
          </a:ln>
          <a:effectLst>
            <a:outerShdw dist="107763" dir="18900000" algn="ctr" rotWithShape="0">
              <a:schemeClr val="bg2">
                <a:alpha val="50000"/>
              </a:schemeClr>
            </a:outerShdw>
          </a:effectLst>
        </p:spPr>
        <p:txBody>
          <a:bodyPr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ＭＳ Ｐゴシック" pitchFamily="34" charset="-128"/>
                <a:ea typeface="ＭＳ Ｐゴシック" panose="020B0600070205080204" pitchFamily="34" charset="-128"/>
                <a:cs typeface="+mn-cs"/>
              </a:rPr>
              <a:t>◆ </a:t>
            </a:r>
            <a:r>
              <a:rPr kumimoji="1" lang="en-US" altLang="ja-JP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ＭＳ Ｐゴシック" pitchFamily="34" charset="-128"/>
                <a:ea typeface="ＭＳ Ｐゴシック" panose="020B0600070205080204" pitchFamily="34" charset="-128"/>
                <a:cs typeface="+mn-cs"/>
              </a:rPr>
              <a:t>After </a:t>
            </a:r>
            <a:endParaRPr kumimoji="1" lang="en-US" altLang="ja-JP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ＭＳ Ｐゴシック" pitchFamily="34" charset="-128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42" name="Text Box 2">
            <a:extLst>
              <a:ext uri="{FF2B5EF4-FFF2-40B4-BE49-F238E27FC236}">
                <a16:creationId xmlns:a16="http://schemas.microsoft.com/office/drawing/2014/main" id="{C56CF688-0247-4393-B600-439F24E4C8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314" y="36562"/>
            <a:ext cx="9094680" cy="424529"/>
          </a:xfrm>
          <a:prstGeom prst="rect">
            <a:avLst/>
          </a:prstGeom>
          <a:solidFill>
            <a:srgbClr val="0000B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40069" tIns="20035" rIns="40069" bIns="20035" anchor="ctr" anchorCtr="1"/>
          <a:lstStyle>
            <a:defPPr>
              <a:defRPr lang="en-US"/>
            </a:defPPr>
            <a:lvl1pPr>
              <a:lnSpc>
                <a:spcPct val="90000"/>
              </a:lnSpc>
              <a:defRPr sz="2000" b="1" cap="all">
                <a:solidFill>
                  <a:prstClr val="white">
                    <a:lumMod val="9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GB" altLang="ja-JP" dirty="0"/>
              <a:t>prevent cancel status of kitting job</a:t>
            </a:r>
            <a:endParaRPr lang="en-US" altLang="ja-JP" dirty="0"/>
          </a:p>
        </p:txBody>
      </p:sp>
      <p:sp>
        <p:nvSpPr>
          <p:cNvPr id="43" name="Rectangle 59">
            <a:extLst>
              <a:ext uri="{FF2B5EF4-FFF2-40B4-BE49-F238E27FC236}">
                <a16:creationId xmlns:a16="http://schemas.microsoft.com/office/drawing/2014/main" id="{CCB57E51-4993-4A8A-A19D-CCD70B3ADC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49058" y="123641"/>
            <a:ext cx="871330" cy="271154"/>
          </a:xfrm>
          <a:prstGeom prst="rect">
            <a:avLst/>
          </a:prstGeom>
          <a:solidFill>
            <a:srgbClr val="000099"/>
          </a:solidFill>
          <a:ln w="2857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vi-VN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3/5</a:t>
            </a:r>
          </a:p>
        </p:txBody>
      </p:sp>
      <p:sp>
        <p:nvSpPr>
          <p:cNvPr id="27" name="AutoShape 6"/>
          <p:cNvSpPr>
            <a:spLocks noChangeArrowheads="1"/>
          </p:cNvSpPr>
          <p:nvPr/>
        </p:nvSpPr>
        <p:spPr bwMode="auto">
          <a:xfrm>
            <a:off x="4542952" y="5948339"/>
            <a:ext cx="4552950" cy="809625"/>
          </a:xfrm>
          <a:prstGeom prst="roundRect">
            <a:avLst>
              <a:gd name="adj" fmla="val 16667"/>
            </a:avLst>
          </a:prstGeom>
          <a:solidFill>
            <a:srgbClr val="FFFF99"/>
          </a:solidFill>
          <a:ln w="28575">
            <a:solidFill>
              <a:srgbClr val="0000FF"/>
            </a:solidFill>
            <a:round/>
            <a:headEnd/>
            <a:tailEnd/>
          </a:ln>
        </p:spPr>
        <p:txBody>
          <a:bodyPr anchor="ctr"/>
          <a:lstStyle>
            <a:lvl1pPr marL="285750" indent="-285750" eaLnBrk="0" hangingPunct="0">
              <a:defRPr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eaLnBrk="0" hangingPunct="0">
              <a:defRPr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eaLnBrk="0" hangingPunct="0">
              <a:defRPr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eaLnBrk="0" hangingPunct="0">
              <a:defRPr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eaLnBrk="0" hangingPunct="0">
              <a:defRPr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eaLnBrk="0" fontAlgn="base" hangingPunct="0">
              <a:spcBef>
                <a:spcPct val="50000"/>
              </a:spcBef>
              <a:spcAft>
                <a:spcPct val="0"/>
              </a:spcAft>
              <a:buFont typeface="Wingdings" pitchFamily="2" charset="2"/>
              <a:buChar char="Ø"/>
              <a:defRPr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eaLnBrk="0" fontAlgn="base" hangingPunct="0">
              <a:spcBef>
                <a:spcPct val="50000"/>
              </a:spcBef>
              <a:spcAft>
                <a:spcPct val="0"/>
              </a:spcAft>
              <a:buFont typeface="Wingdings" pitchFamily="2" charset="2"/>
              <a:buChar char="Ø"/>
              <a:defRPr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eaLnBrk="0" fontAlgn="base" hangingPunct="0">
              <a:spcBef>
                <a:spcPct val="50000"/>
              </a:spcBef>
              <a:spcAft>
                <a:spcPct val="0"/>
              </a:spcAft>
              <a:buFont typeface="Wingdings" pitchFamily="2" charset="2"/>
              <a:buChar char="Ø"/>
              <a:defRPr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eaLnBrk="0" fontAlgn="base" hangingPunct="0">
              <a:spcBef>
                <a:spcPct val="50000"/>
              </a:spcBef>
              <a:spcAft>
                <a:spcPct val="0"/>
              </a:spcAft>
              <a:buFont typeface="Wingdings" pitchFamily="2" charset="2"/>
              <a:buChar char="Ø"/>
              <a:defRPr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lvl="0"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en-GB" sz="16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Human take time: 0h </a:t>
            </a:r>
            <a:r>
              <a:rPr lang="en-GB" sz="16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 </a:t>
            </a:r>
            <a:r>
              <a:rPr lang="en-GB" sz="16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0.8K$/Year</a:t>
            </a:r>
          </a:p>
          <a:p>
            <a:pPr lvl="0"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en-GB" sz="16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Job take time: 80h/month</a:t>
            </a:r>
          </a:p>
        </p:txBody>
      </p:sp>
      <p:sp>
        <p:nvSpPr>
          <p:cNvPr id="19" name="AutoShape 6">
            <a:extLst>
              <a:ext uri="{FF2B5EF4-FFF2-40B4-BE49-F238E27FC236}">
                <a16:creationId xmlns:a16="http://schemas.microsoft.com/office/drawing/2014/main" id="{3F473890-381A-44AB-A550-68C6E32A6F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1" y="5958591"/>
            <a:ext cx="4343399" cy="823209"/>
          </a:xfrm>
          <a:prstGeom prst="roundRect">
            <a:avLst>
              <a:gd name="adj" fmla="val 16667"/>
            </a:avLst>
          </a:prstGeom>
          <a:solidFill>
            <a:srgbClr val="FFFF99"/>
          </a:solidFill>
          <a:ln w="28575">
            <a:solidFill>
              <a:srgbClr val="FF0000"/>
            </a:solidFill>
            <a:round/>
            <a:headEnd/>
            <a:tailEnd/>
          </a:ln>
        </p:spPr>
        <p:txBody>
          <a:bodyPr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Human take time: 16h/month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Job take time: 240h/month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24E9E12-2354-4CC6-B289-3B2838738257}"/>
              </a:ext>
            </a:extLst>
          </p:cNvPr>
          <p:cNvGrpSpPr/>
          <p:nvPr/>
        </p:nvGrpSpPr>
        <p:grpSpPr>
          <a:xfrm>
            <a:off x="52634" y="931825"/>
            <a:ext cx="6119566" cy="321492"/>
            <a:chOff x="52634" y="931825"/>
            <a:chExt cx="6119566" cy="321492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636315FB-AA16-4931-AD00-186957B9449E}"/>
                </a:ext>
              </a:extLst>
            </p:cNvPr>
            <p:cNvGrpSpPr/>
            <p:nvPr/>
          </p:nvGrpSpPr>
          <p:grpSpPr>
            <a:xfrm>
              <a:off x="52634" y="931825"/>
              <a:ext cx="6119566" cy="321492"/>
              <a:chOff x="2107078" y="961572"/>
              <a:chExt cx="4676487" cy="274320"/>
            </a:xfrm>
          </p:grpSpPr>
          <p:sp>
            <p:nvSpPr>
              <p:cNvPr id="21" name="AutoShape 6">
                <a:extLst>
                  <a:ext uri="{FF2B5EF4-FFF2-40B4-BE49-F238E27FC236}">
                    <a16:creationId xmlns:a16="http://schemas.microsoft.com/office/drawing/2014/main" id="{6D51908F-EF05-4D65-B13B-F44BDFFBD9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07078" y="962132"/>
                <a:ext cx="1856644" cy="273760"/>
              </a:xfrm>
              <a:prstGeom prst="roundRect">
                <a:avLst>
                  <a:gd name="adj" fmla="val 16667"/>
                </a:avLst>
              </a:prstGeom>
              <a:solidFill>
                <a:srgbClr val="FFFF99"/>
              </a:solidFill>
              <a:ln w="28575">
                <a:solidFill>
                  <a:srgbClr val="0000FF"/>
                </a:solidFill>
                <a:round/>
                <a:headEnd/>
                <a:tailEnd/>
              </a:ln>
              <a:effectLst/>
            </p:spPr>
            <p:txBody>
              <a:bodyPr anchor="ctr"/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ja-JP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>
                      <a:outerShdw blurRad="38100" dist="38100" dir="2700000" algn="tl">
                        <a:srgbClr val="FFFFFF"/>
                      </a:outerShdw>
                    </a:effectLst>
                    <a:uLnTx/>
                    <a:uFillTx/>
                    <a:latin typeface="Calibri"/>
                    <a:ea typeface="ＭＳ Ｐゴシック" panose="020B0600070205080204" pitchFamily="34" charset="-128"/>
                    <a:cs typeface="+mn-cs"/>
                    <a:sym typeface="Wingdings" pitchFamily="2" charset="2"/>
                  </a:rPr>
                  <a:t>Developer</a:t>
                </a:r>
                <a:r>
                  <a:rPr kumimoji="1" lang="en-US" altLang="ja-JP" sz="11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>
                      <a:outerShdw blurRad="38100" dist="38100" dir="2700000" algn="tl">
                        <a:srgbClr val="FFFFFF"/>
                      </a:outerShdw>
                    </a:effectLst>
                    <a:uLnTx/>
                    <a:uFillTx/>
                    <a:latin typeface="Calibri"/>
                    <a:ea typeface="ＭＳ Ｐゴシック" panose="020B0600070205080204" pitchFamily="34" charset="-128"/>
                    <a:cs typeface="+mn-cs"/>
                    <a:sym typeface="Wingdings" pitchFamily="2" charset="2"/>
                  </a:rPr>
                  <a:t>: </a:t>
                </a:r>
                <a:r>
                  <a:rPr kumimoji="1" lang="en-US" altLang="ja-JP">
                    <a:solidFill>
                      <a:prstClr val="black"/>
                    </a:solidFill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Calibri"/>
                    <a:ea typeface="ＭＳ Ｐゴシック" panose="020B0600070205080204" pitchFamily="34" charset="-128"/>
                    <a:sym typeface="Wingdings" pitchFamily="2" charset="2"/>
                  </a:rPr>
                  <a:t>Nguyen Thi Thuy</a:t>
                </a:r>
                <a:endParaRPr kumimoji="1" lang="en-US" altLang="ja-JP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  <a:sym typeface="Wingdings" pitchFamily="2" charset="2"/>
                </a:endParaRPr>
              </a:p>
            </p:txBody>
          </p:sp>
          <p:sp>
            <p:nvSpPr>
              <p:cNvPr id="22" name="AutoShape 6">
                <a:extLst>
                  <a:ext uri="{FF2B5EF4-FFF2-40B4-BE49-F238E27FC236}">
                    <a16:creationId xmlns:a16="http://schemas.microsoft.com/office/drawing/2014/main" id="{ADDF6A9E-3A0C-4018-947B-3D3BD39FF9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45851" y="961572"/>
                <a:ext cx="1037714" cy="274320"/>
              </a:xfrm>
              <a:prstGeom prst="roundRect">
                <a:avLst>
                  <a:gd name="adj" fmla="val 16667"/>
                </a:avLst>
              </a:prstGeom>
              <a:solidFill>
                <a:srgbClr val="FFFF99"/>
              </a:solidFill>
              <a:ln w="28575">
                <a:solidFill>
                  <a:srgbClr val="0000FF"/>
                </a:solidFill>
                <a:round/>
                <a:headEnd/>
                <a:tailEnd/>
              </a:ln>
              <a:effectLst/>
            </p:spPr>
            <p:txBody>
              <a:bodyPr anchor="ctr"/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ja-JP" sz="11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>
                      <a:outerShdw blurRad="38100" dist="38100" dir="2700000" algn="tl">
                        <a:srgbClr val="FFFFFF"/>
                      </a:outerShdw>
                    </a:effectLst>
                    <a:uLnTx/>
                    <a:uFillTx/>
                    <a:latin typeface="Calibri"/>
                    <a:ea typeface="ＭＳ Ｐゴシック" panose="020B0600070205080204" pitchFamily="34" charset="-128"/>
                    <a:cs typeface="+mn-cs"/>
                    <a:sym typeface="Wingdings" pitchFamily="2" charset="2"/>
                  </a:rPr>
                  <a:t>Expense: 0 </a:t>
                </a:r>
                <a:endParaRPr kumimoji="1" lang="en-US" altLang="ja-JP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  <a:sym typeface="Wingdings" pitchFamily="2" charset="2"/>
                </a:endParaRPr>
              </a:p>
            </p:txBody>
          </p:sp>
        </p:grpSp>
        <p:sp>
          <p:nvSpPr>
            <p:cNvPr id="20" name="AutoShape 6">
              <a:extLst>
                <a:ext uri="{FF2B5EF4-FFF2-40B4-BE49-F238E27FC236}">
                  <a16:creationId xmlns:a16="http://schemas.microsoft.com/office/drawing/2014/main" id="{AF45FE8A-7925-45FA-BA93-C22C482756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4601" y="931825"/>
              <a:ext cx="2267269" cy="321492"/>
            </a:xfrm>
            <a:prstGeom prst="roundRect">
              <a:avLst>
                <a:gd name="adj" fmla="val 16667"/>
              </a:avLst>
            </a:prstGeom>
            <a:solidFill>
              <a:srgbClr val="FFFF99"/>
            </a:solidFill>
            <a:ln w="28575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 anchor="ctr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  <a:sym typeface="Wingdings" pitchFamily="2" charset="2"/>
                </a:rPr>
                <a:t>Apply: May</a:t>
              </a:r>
              <a:r>
                <a:rPr kumimoji="1" lang="en-US" altLang="ja-JP" dirty="0">
                  <a:solidFill>
                    <a:prstClr val="black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Calibri"/>
                  <a:ea typeface="ＭＳ Ｐゴシック" panose="020B0600070205080204" pitchFamily="34" charset="-128"/>
                  <a:sym typeface="Wingdings" pitchFamily="2" charset="2"/>
                </a:rPr>
                <a:t>,</a:t>
              </a:r>
              <a:r>
                <a:rPr kumimoji="1" lang="en-US" altLang="ja-JP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  <a:sym typeface="Wingdings" pitchFamily="2" charset="2"/>
                </a:rPr>
                <a:t>2021</a:t>
              </a:r>
            </a:p>
          </p:txBody>
        </p:sp>
      </p:grpSp>
      <p:sp>
        <p:nvSpPr>
          <p:cNvPr id="37" name="Rectangle 36">
            <a:extLst>
              <a:ext uri="{FF2B5EF4-FFF2-40B4-BE49-F238E27FC236}">
                <a16:creationId xmlns:a16="http://schemas.microsoft.com/office/drawing/2014/main" id="{83D40727-E051-473B-B2AE-B553B63F7E22}"/>
              </a:ext>
            </a:extLst>
          </p:cNvPr>
          <p:cNvSpPr/>
          <p:nvPr/>
        </p:nvSpPr>
        <p:spPr>
          <a:xfrm>
            <a:off x="6204596" y="5114556"/>
            <a:ext cx="9284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time</a:t>
            </a:r>
            <a:endParaRPr lang="en-US" b="1">
              <a:solidFill>
                <a:schemeClr val="bg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3C6C2F0-6910-45D0-BC07-194FDAB20AF5}"/>
              </a:ext>
            </a:extLst>
          </p:cNvPr>
          <p:cNvSpPr/>
          <p:nvPr/>
        </p:nvSpPr>
        <p:spPr>
          <a:xfrm>
            <a:off x="974284" y="5192330"/>
            <a:ext cx="260497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2000" b="1">
                <a:solidFill>
                  <a:schemeClr val="bg1"/>
                </a:solidFill>
              </a:rPr>
              <a:t>Delete manually</a:t>
            </a:r>
            <a:endParaRPr lang="en-US" sz="2000" b="1">
              <a:solidFill>
                <a:schemeClr val="bg1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322C504-A3BD-476A-BB60-2CBE36348D72}"/>
              </a:ext>
            </a:extLst>
          </p:cNvPr>
          <p:cNvGrpSpPr/>
          <p:nvPr/>
        </p:nvGrpSpPr>
        <p:grpSpPr>
          <a:xfrm>
            <a:off x="35368" y="501724"/>
            <a:ext cx="9055998" cy="751685"/>
            <a:chOff x="35368" y="501724"/>
            <a:chExt cx="9055998" cy="751685"/>
          </a:xfrm>
        </p:grpSpPr>
        <p:sp>
          <p:nvSpPr>
            <p:cNvPr id="44" name="Rectangle 4">
              <a:extLst>
                <a:ext uri="{FF2B5EF4-FFF2-40B4-BE49-F238E27FC236}">
                  <a16:creationId xmlns:a16="http://schemas.microsoft.com/office/drawing/2014/main" id="{08A65B3F-E5CA-49E9-BA5C-3745844175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68" y="501724"/>
              <a:ext cx="9055998" cy="390641"/>
            </a:xfrm>
            <a:prstGeom prst="rect">
              <a:avLst/>
            </a:prstGeom>
            <a:gradFill rotWithShape="1">
              <a:gsLst>
                <a:gs pos="0">
                  <a:srgbClr val="FFFF99"/>
                </a:gs>
                <a:gs pos="50000">
                  <a:schemeClr val="bg1"/>
                </a:gs>
                <a:gs pos="100000">
                  <a:srgbClr val="FFFF99"/>
                </a:gs>
              </a:gsLst>
              <a:lin ang="2700000" scaled="1"/>
            </a:gra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Font typeface="Wingdings" pitchFamily="2" charset="2"/>
                <a:buChar char="Ø"/>
                <a:defRPr b="1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Font typeface="Wingdings" pitchFamily="2" charset="2"/>
                <a:buChar char="Ø"/>
                <a:defRPr b="1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Font typeface="Wingdings" pitchFamily="2" charset="2"/>
                <a:buChar char="Ø"/>
                <a:defRPr b="1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Font typeface="Wingdings" pitchFamily="2" charset="2"/>
                <a:buChar char="Ø"/>
                <a:defRPr b="1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>
                <a:spcBef>
                  <a:spcPct val="20000"/>
                </a:spcBef>
                <a:defRPr/>
              </a:pPr>
              <a:r>
                <a:rPr lang="en-US" altLang="ja-JP" sz="140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Improve auto kitting program to reduce runtime of auto kitting job </a:t>
              </a:r>
              <a:r>
                <a:rPr lang="en-US" altLang="ja-JP" sz="140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 no cancel job</a:t>
              </a:r>
              <a:endParaRPr lang="en-US" sz="1400">
                <a:solidFill>
                  <a:srgbClr val="0000FF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1" name="AutoShape 6">
              <a:extLst>
                <a:ext uri="{FF2B5EF4-FFF2-40B4-BE49-F238E27FC236}">
                  <a16:creationId xmlns:a16="http://schemas.microsoft.com/office/drawing/2014/main" id="{7E28BD8B-8580-47C2-BB79-E8BF1FA109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04596" y="932872"/>
              <a:ext cx="2886770" cy="320537"/>
            </a:xfrm>
            <a:prstGeom prst="roundRect">
              <a:avLst>
                <a:gd name="adj" fmla="val 16667"/>
              </a:avLst>
            </a:prstGeom>
            <a:solidFill>
              <a:srgbClr val="FFFF99"/>
            </a:solidFill>
            <a:ln w="28575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 anchor="ctr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r">
                <a:spcBef>
                  <a:spcPct val="20000"/>
                </a:spcBef>
              </a:pPr>
              <a:r>
                <a:rPr kumimoji="1" lang="en-GB" altLang="ja-JP" sz="1400" b="1" dirty="0">
                  <a:solidFill>
                    <a:srgbClr val="00CC00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  <a:sym typeface="Wingdings" pitchFamily="2" charset="2"/>
                </a:rPr>
                <a:t>Save time: 0.8K$/Y</a:t>
              </a:r>
              <a:endParaRPr kumimoji="1" lang="en-US" altLang="ja-JP" sz="1400" b="1" dirty="0">
                <a:solidFill>
                  <a:srgbClr val="00CC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C071B79A-F064-4764-8497-7A2F883F7FFC}"/>
              </a:ext>
            </a:extLst>
          </p:cNvPr>
          <p:cNvSpPr txBox="1"/>
          <p:nvPr/>
        </p:nvSpPr>
        <p:spPr>
          <a:xfrm>
            <a:off x="198783" y="1969640"/>
            <a:ext cx="4114800" cy="338554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1600" b="1"/>
              <a:t>Auto kitting job’s runtime is take time</a:t>
            </a:r>
            <a:endParaRPr lang="en-US" sz="1600" b="1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A32A965-0FFA-4EF8-9740-1A38B2B093E7}"/>
              </a:ext>
            </a:extLst>
          </p:cNvPr>
          <p:cNvSpPr txBox="1"/>
          <p:nvPr/>
        </p:nvSpPr>
        <p:spPr>
          <a:xfrm>
            <a:off x="123826" y="3827790"/>
            <a:ext cx="4343399" cy="19396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  <a:t>Sometime: runtime error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à"/>
            </a:pPr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Job cancelled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à"/>
            </a:pPr>
            <a:r>
              <a:rPr lang="en-GB" sz="16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IT&amp;Section</a:t>
            </a:r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check and transfer manually.</a:t>
            </a:r>
          </a:p>
          <a:p>
            <a:pPr algn="ctr">
              <a:lnSpc>
                <a:spcPct val="150000"/>
              </a:lnSpc>
            </a:pPr>
            <a:r>
              <a:rPr lang="en-GB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Take time: 16h/month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à"/>
            </a:pPr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Delay goods  Claim from Prod dept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3F799B7-5D46-40DE-B02B-2EBEDD06FEF9}"/>
              </a:ext>
            </a:extLst>
          </p:cNvPr>
          <p:cNvGrpSpPr/>
          <p:nvPr/>
        </p:nvGrpSpPr>
        <p:grpSpPr>
          <a:xfrm>
            <a:off x="115437" y="2499541"/>
            <a:ext cx="8913125" cy="777059"/>
            <a:chOff x="103191" y="3412193"/>
            <a:chExt cx="8913125" cy="777059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E17D26C-8D2B-432F-8031-C1549F41746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10100" y="3465392"/>
              <a:ext cx="4406216" cy="685496"/>
            </a:xfrm>
            <a:prstGeom prst="rect">
              <a:avLst/>
            </a:prstGeom>
          </p:spPr>
        </p:pic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0BACD665-C8B1-499F-A013-B62DD606526E}"/>
                </a:ext>
              </a:extLst>
            </p:cNvPr>
            <p:cNvGrpSpPr/>
            <p:nvPr/>
          </p:nvGrpSpPr>
          <p:grpSpPr>
            <a:xfrm>
              <a:off x="103191" y="3412193"/>
              <a:ext cx="8913125" cy="777059"/>
              <a:chOff x="103191" y="2749269"/>
              <a:chExt cx="8913125" cy="777059"/>
            </a:xfrm>
          </p:grpSpPr>
          <p:pic>
            <p:nvPicPr>
              <p:cNvPr id="4" name="Picture 3">
                <a:extLst>
                  <a:ext uri="{FF2B5EF4-FFF2-40B4-BE49-F238E27FC236}">
                    <a16:creationId xmlns:a16="http://schemas.microsoft.com/office/drawing/2014/main" id="{BA20B468-8CA9-468D-BEAD-1235F96C5FC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3191" y="2775292"/>
                <a:ext cx="4263975" cy="737572"/>
              </a:xfrm>
              <a:prstGeom prst="rect">
                <a:avLst/>
              </a:prstGeom>
            </p:spPr>
          </p:pic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1F375863-76A6-4E0C-81A6-FAF459D8CAD8}"/>
                  </a:ext>
                </a:extLst>
              </p:cNvPr>
              <p:cNvSpPr/>
              <p:nvPr/>
            </p:nvSpPr>
            <p:spPr>
              <a:xfrm>
                <a:off x="3802899" y="2749269"/>
                <a:ext cx="533400" cy="762225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86A2897B-751E-44DA-9197-573B7F8ABD49}"/>
                  </a:ext>
                </a:extLst>
              </p:cNvPr>
              <p:cNvSpPr/>
              <p:nvPr/>
            </p:nvSpPr>
            <p:spPr>
              <a:xfrm>
                <a:off x="8482916" y="2764103"/>
                <a:ext cx="533400" cy="762225"/>
              </a:xfrm>
              <a:prstGeom prst="rect">
                <a:avLst/>
              </a:prstGeom>
              <a:noFill/>
              <a:ln>
                <a:solidFill>
                  <a:srgbClr val="1717F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1941D3B3-27DB-495E-B5D9-38205765EFB3}"/>
              </a:ext>
            </a:extLst>
          </p:cNvPr>
          <p:cNvSpPr txBox="1"/>
          <p:nvPr/>
        </p:nvSpPr>
        <p:spPr>
          <a:xfrm>
            <a:off x="4610100" y="1973577"/>
            <a:ext cx="4114800" cy="338554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1600" b="1"/>
              <a:t>Improve program </a:t>
            </a:r>
            <a:r>
              <a:rPr lang="en-GB" sz="1600" b="1">
                <a:sym typeface="Wingdings" panose="05000000000000000000" pitchFamily="2" charset="2"/>
              </a:rPr>
              <a:t> reduce runtime</a:t>
            </a:r>
            <a:endParaRPr lang="en-US" sz="1600" b="1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8F6288A-26E6-4DF7-BE01-C314EA15B6AC}"/>
              </a:ext>
            </a:extLst>
          </p:cNvPr>
          <p:cNvSpPr/>
          <p:nvPr/>
        </p:nvSpPr>
        <p:spPr>
          <a:xfrm>
            <a:off x="472750" y="3523468"/>
            <a:ext cx="31754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~13k item/day – </a:t>
            </a:r>
            <a:r>
              <a:rPr lang="en-GB" dirty="0">
                <a:solidFill>
                  <a:srgbClr val="FF0000"/>
                </a:solidFill>
              </a:rPr>
              <a:t>13h</a:t>
            </a:r>
            <a:r>
              <a:rPr lang="en-GB" dirty="0"/>
              <a:t> daily finish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D30A687-FAF1-45D4-BCE3-69A651728F35}"/>
              </a:ext>
            </a:extLst>
          </p:cNvPr>
          <p:cNvSpPr/>
          <p:nvPr/>
        </p:nvSpPr>
        <p:spPr>
          <a:xfrm>
            <a:off x="5144627" y="3516407"/>
            <a:ext cx="31754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~13k item/day – </a:t>
            </a:r>
            <a:r>
              <a:rPr lang="en-GB" dirty="0">
                <a:solidFill>
                  <a:srgbClr val="0000FF"/>
                </a:solidFill>
              </a:rPr>
              <a:t>04h</a:t>
            </a:r>
            <a:r>
              <a:rPr lang="en-GB" dirty="0"/>
              <a:t> daily finish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9DD78A8-9068-49D0-BC6D-D84B230FE905}"/>
              </a:ext>
            </a:extLst>
          </p:cNvPr>
          <p:cNvSpPr txBox="1"/>
          <p:nvPr/>
        </p:nvSpPr>
        <p:spPr>
          <a:xfrm>
            <a:off x="4701739" y="3878632"/>
            <a:ext cx="4061259" cy="18933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  <a:t>No runtime error.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à"/>
            </a:pPr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No job cancelled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à"/>
            </a:pPr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No more check</a:t>
            </a:r>
          </a:p>
          <a:p>
            <a:pPr algn="ctr">
              <a:lnSpc>
                <a:spcPct val="150000"/>
              </a:lnSpc>
            </a:pPr>
            <a:r>
              <a:rPr lang="en-GB" sz="16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Take time: 0h</a:t>
            </a:r>
            <a:endParaRPr lang="en-GB" sz="1600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à"/>
            </a:pPr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No more claim due to delay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271C0E8-B06D-4180-B1DA-16457BB0ADE7}"/>
              </a:ext>
            </a:extLst>
          </p:cNvPr>
          <p:cNvCxnSpPr/>
          <p:nvPr/>
        </p:nvCxnSpPr>
        <p:spPr>
          <a:xfrm>
            <a:off x="7807780" y="2683328"/>
            <a:ext cx="0" cy="22860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96420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AutoShape 2"/>
          <p:cNvSpPr>
            <a:spLocks noChangeArrowheads="1"/>
          </p:cNvSpPr>
          <p:nvPr/>
        </p:nvSpPr>
        <p:spPr bwMode="auto">
          <a:xfrm>
            <a:off x="65818" y="1507240"/>
            <a:ext cx="4353782" cy="4207760"/>
          </a:xfrm>
          <a:prstGeom prst="roundRect">
            <a:avLst>
              <a:gd name="adj" fmla="val 5551"/>
            </a:avLst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0" name="Text Box 4"/>
          <p:cNvSpPr txBox="1">
            <a:spLocks noChangeArrowheads="1"/>
          </p:cNvSpPr>
          <p:nvPr/>
        </p:nvSpPr>
        <p:spPr bwMode="auto">
          <a:xfrm>
            <a:off x="1089755" y="1315893"/>
            <a:ext cx="2305050" cy="425450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outerShdw dist="107763" dir="189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ＭＳ Ｐゴシック" pitchFamily="34" charset="-128"/>
                <a:ea typeface="ＭＳ Ｐゴシック" panose="020B0600070205080204" pitchFamily="34" charset="-128"/>
                <a:cs typeface="+mn-cs"/>
              </a:rPr>
              <a:t>◆</a:t>
            </a:r>
            <a:r>
              <a:rPr kumimoji="1" lang="en-US" altLang="ja-JP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ＭＳ Ｐゴシック" pitchFamily="34" charset="-128"/>
                <a:ea typeface="ＭＳ Ｐゴシック" panose="020B0600070205080204" pitchFamily="34" charset="-128"/>
                <a:cs typeface="+mn-cs"/>
              </a:rPr>
              <a:t>Before</a:t>
            </a:r>
          </a:p>
        </p:txBody>
      </p:sp>
      <p:sp>
        <p:nvSpPr>
          <p:cNvPr id="66" name="AutoShape 3"/>
          <p:cNvSpPr>
            <a:spLocks noChangeArrowheads="1"/>
          </p:cNvSpPr>
          <p:nvPr/>
        </p:nvSpPr>
        <p:spPr bwMode="auto">
          <a:xfrm>
            <a:off x="4514850" y="1507240"/>
            <a:ext cx="4576516" cy="4207760"/>
          </a:xfrm>
          <a:prstGeom prst="roundRect">
            <a:avLst>
              <a:gd name="adj" fmla="val 5551"/>
            </a:avLst>
          </a:prstGeom>
          <a:noFill/>
          <a:ln w="2857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67" name="Text Box 5"/>
          <p:cNvSpPr txBox="1">
            <a:spLocks noChangeArrowheads="1"/>
          </p:cNvSpPr>
          <p:nvPr/>
        </p:nvSpPr>
        <p:spPr bwMode="auto">
          <a:xfrm>
            <a:off x="5619750" y="1315893"/>
            <a:ext cx="2305050" cy="425450"/>
          </a:xfrm>
          <a:prstGeom prst="rect">
            <a:avLst/>
          </a:prstGeom>
          <a:solidFill>
            <a:srgbClr val="0000FF"/>
          </a:solidFill>
          <a:ln>
            <a:noFill/>
          </a:ln>
          <a:effectLst>
            <a:outerShdw dist="107763" dir="18900000" algn="ctr" rotWithShape="0">
              <a:schemeClr val="bg2">
                <a:alpha val="50000"/>
              </a:schemeClr>
            </a:outerShdw>
          </a:effectLst>
        </p:spPr>
        <p:txBody>
          <a:bodyPr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ＭＳ Ｐゴシック" pitchFamily="34" charset="-128"/>
                <a:ea typeface="ＭＳ Ｐゴシック" panose="020B0600070205080204" pitchFamily="34" charset="-128"/>
                <a:cs typeface="+mn-cs"/>
              </a:rPr>
              <a:t>◆ </a:t>
            </a:r>
            <a:r>
              <a:rPr kumimoji="1" lang="en-US" altLang="ja-JP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ＭＳ Ｐゴシック" pitchFamily="34" charset="-128"/>
                <a:ea typeface="ＭＳ Ｐゴシック" panose="020B0600070205080204" pitchFamily="34" charset="-128"/>
                <a:cs typeface="+mn-cs"/>
              </a:rPr>
              <a:t>After </a:t>
            </a:r>
            <a:endParaRPr kumimoji="1" lang="en-US" altLang="ja-JP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ＭＳ Ｐゴシック" pitchFamily="34" charset="-128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42" name="Text Box 2">
            <a:extLst>
              <a:ext uri="{FF2B5EF4-FFF2-40B4-BE49-F238E27FC236}">
                <a16:creationId xmlns:a16="http://schemas.microsoft.com/office/drawing/2014/main" id="{C56CF688-0247-4393-B600-439F24E4C8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314" y="36562"/>
            <a:ext cx="9094680" cy="424529"/>
          </a:xfrm>
          <a:prstGeom prst="rect">
            <a:avLst/>
          </a:prstGeom>
          <a:solidFill>
            <a:srgbClr val="0000B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40069" tIns="20035" rIns="40069" bIns="20035" anchor="ctr" anchorCtr="1"/>
          <a:lstStyle>
            <a:defPPr>
              <a:defRPr lang="en-US"/>
            </a:defPPr>
            <a:lvl1pPr>
              <a:lnSpc>
                <a:spcPct val="90000"/>
              </a:lnSpc>
              <a:defRPr sz="2000" b="1" cap="all">
                <a:solidFill>
                  <a:prstClr val="white">
                    <a:lumMod val="9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dirty="0"/>
              <a:t>change the process of transferring pc layout</a:t>
            </a:r>
            <a:r>
              <a:rPr lang="en-GB" altLang="ja-JP" dirty="0"/>
              <a:t> </a:t>
            </a:r>
            <a:endParaRPr lang="en-US" altLang="ja-JP" sz="2400" dirty="0"/>
          </a:p>
        </p:txBody>
      </p:sp>
      <p:sp>
        <p:nvSpPr>
          <p:cNvPr id="43" name="Rectangle 59">
            <a:extLst>
              <a:ext uri="{FF2B5EF4-FFF2-40B4-BE49-F238E27FC236}">
                <a16:creationId xmlns:a16="http://schemas.microsoft.com/office/drawing/2014/main" id="{CCB57E51-4993-4A8A-A19D-CCD70B3ADC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49058" y="123641"/>
            <a:ext cx="871330" cy="271154"/>
          </a:xfrm>
          <a:prstGeom prst="rect">
            <a:avLst/>
          </a:prstGeom>
          <a:solidFill>
            <a:srgbClr val="000099"/>
          </a:solidFill>
          <a:ln w="2857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vi-VN" sz="1400" b="1" dirty="0">
                <a:solidFill>
                  <a:srgbClr val="FFFFFF"/>
                </a:solidFill>
              </a:rPr>
              <a:t>4</a:t>
            </a:r>
            <a:r>
              <a:rPr kumimoji="0" lang="en-US" altLang="vi-VN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/5</a:t>
            </a:r>
          </a:p>
        </p:txBody>
      </p:sp>
      <p:sp>
        <p:nvSpPr>
          <p:cNvPr id="27" name="AutoShape 6"/>
          <p:cNvSpPr>
            <a:spLocks noChangeArrowheads="1"/>
          </p:cNvSpPr>
          <p:nvPr/>
        </p:nvSpPr>
        <p:spPr bwMode="auto">
          <a:xfrm>
            <a:off x="4542952" y="5795011"/>
            <a:ext cx="4552950" cy="1008673"/>
          </a:xfrm>
          <a:prstGeom prst="roundRect">
            <a:avLst>
              <a:gd name="adj" fmla="val 16667"/>
            </a:avLst>
          </a:prstGeom>
          <a:solidFill>
            <a:srgbClr val="FFFF99"/>
          </a:solidFill>
          <a:ln w="28575">
            <a:solidFill>
              <a:srgbClr val="0000FF"/>
            </a:solidFill>
            <a:round/>
            <a:headEnd/>
            <a:tailEnd/>
          </a:ln>
        </p:spPr>
        <p:txBody>
          <a:bodyPr anchor="ctr"/>
          <a:lstStyle>
            <a:lvl1pPr marL="285750" indent="-285750" eaLnBrk="0" hangingPunct="0">
              <a:defRPr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eaLnBrk="0" hangingPunct="0">
              <a:defRPr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eaLnBrk="0" hangingPunct="0">
              <a:defRPr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eaLnBrk="0" hangingPunct="0">
              <a:defRPr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eaLnBrk="0" hangingPunct="0">
              <a:defRPr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eaLnBrk="0" fontAlgn="base" hangingPunct="0">
              <a:spcBef>
                <a:spcPct val="50000"/>
              </a:spcBef>
              <a:spcAft>
                <a:spcPct val="0"/>
              </a:spcAft>
              <a:buFont typeface="Wingdings" pitchFamily="2" charset="2"/>
              <a:buChar char="Ø"/>
              <a:defRPr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eaLnBrk="0" fontAlgn="base" hangingPunct="0">
              <a:spcBef>
                <a:spcPct val="50000"/>
              </a:spcBef>
              <a:spcAft>
                <a:spcPct val="0"/>
              </a:spcAft>
              <a:buFont typeface="Wingdings" pitchFamily="2" charset="2"/>
              <a:buChar char="Ø"/>
              <a:defRPr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eaLnBrk="0" fontAlgn="base" hangingPunct="0">
              <a:spcBef>
                <a:spcPct val="50000"/>
              </a:spcBef>
              <a:spcAft>
                <a:spcPct val="0"/>
              </a:spcAft>
              <a:buFont typeface="Wingdings" pitchFamily="2" charset="2"/>
              <a:buChar char="Ø"/>
              <a:defRPr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eaLnBrk="0" fontAlgn="base" hangingPunct="0">
              <a:spcBef>
                <a:spcPct val="50000"/>
              </a:spcBef>
              <a:spcAft>
                <a:spcPct val="0"/>
              </a:spcAft>
              <a:buFont typeface="Wingdings" pitchFamily="2" charset="2"/>
              <a:buChar char="Ø"/>
              <a:defRPr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R="0" lvl="0" algn="l" defTabSz="914400" rtl="0" eaLnBrk="0" fontAlgn="auto" latinLnBrk="0" hangingPunct="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Benefit: </a:t>
            </a:r>
            <a:r>
              <a:rPr lang="en-US" sz="1400" b="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Reduce time for change PC layout</a:t>
            </a:r>
          </a:p>
          <a:p>
            <a:pPr marR="0" lvl="0" algn="l" defTabSz="914400" rtl="0" eaLnBrk="0" fontAlgn="auto" latinLnBrk="0" hangingPunct="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sz="1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Save time: </a:t>
            </a:r>
            <a:r>
              <a:rPr lang="en-GB" sz="1400" b="0" dirty="0">
                <a:latin typeface="Arial" panose="020B0604020202020204" pitchFamily="34" charset="0"/>
                <a:cs typeface="Arial" panose="020B0604020202020204" pitchFamily="34" charset="0"/>
              </a:rPr>
              <a:t>0.6h/year </a:t>
            </a:r>
          </a:p>
          <a:p>
            <a:pPr marR="0" lvl="0" algn="l" defTabSz="914400" rtl="0" eaLnBrk="0" fontAlgn="auto" latinLnBrk="0" hangingPunct="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sz="1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Cost: 2.9K$/Y</a:t>
            </a:r>
          </a:p>
        </p:txBody>
      </p:sp>
      <p:sp>
        <p:nvSpPr>
          <p:cNvPr id="19" name="AutoShape 6">
            <a:extLst>
              <a:ext uri="{FF2B5EF4-FFF2-40B4-BE49-F238E27FC236}">
                <a16:creationId xmlns:a16="http://schemas.microsoft.com/office/drawing/2014/main" id="{3F473890-381A-44AB-A550-68C6E32A6F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1" y="5783579"/>
            <a:ext cx="4343399" cy="1032511"/>
          </a:xfrm>
          <a:prstGeom prst="roundRect">
            <a:avLst>
              <a:gd name="adj" fmla="val 16667"/>
            </a:avLst>
          </a:prstGeom>
          <a:solidFill>
            <a:srgbClr val="FFFF99"/>
          </a:solidFill>
          <a:ln w="28575">
            <a:solidFill>
              <a:srgbClr val="FF0000"/>
            </a:solidFill>
            <a:round/>
            <a:headEnd/>
            <a:tailEnd/>
          </a:ln>
        </p:spPr>
        <p:txBody>
          <a:bodyPr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Problem: </a:t>
            </a:r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Lost time from step 1 ~ 5, 8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Take time: </a:t>
            </a:r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0.6h/request </a:t>
            </a:r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 6h/ month</a:t>
            </a:r>
            <a:endParaRPr lang="en-GB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Cost: 120rq x 6h x 4$ = 2.9K$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24E9E12-2354-4CC6-B289-3B2838738257}"/>
              </a:ext>
            </a:extLst>
          </p:cNvPr>
          <p:cNvGrpSpPr/>
          <p:nvPr/>
        </p:nvGrpSpPr>
        <p:grpSpPr>
          <a:xfrm>
            <a:off x="52634" y="931825"/>
            <a:ext cx="6119566" cy="321492"/>
            <a:chOff x="52634" y="931825"/>
            <a:chExt cx="6119566" cy="321492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636315FB-AA16-4931-AD00-186957B9449E}"/>
                </a:ext>
              </a:extLst>
            </p:cNvPr>
            <p:cNvGrpSpPr/>
            <p:nvPr/>
          </p:nvGrpSpPr>
          <p:grpSpPr>
            <a:xfrm>
              <a:off x="52634" y="931825"/>
              <a:ext cx="6119566" cy="321492"/>
              <a:chOff x="2107078" y="961572"/>
              <a:chExt cx="4676487" cy="274320"/>
            </a:xfrm>
          </p:grpSpPr>
          <p:sp>
            <p:nvSpPr>
              <p:cNvPr id="21" name="AutoShape 6">
                <a:extLst>
                  <a:ext uri="{FF2B5EF4-FFF2-40B4-BE49-F238E27FC236}">
                    <a16:creationId xmlns:a16="http://schemas.microsoft.com/office/drawing/2014/main" id="{6D51908F-EF05-4D65-B13B-F44BDFFBD9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07078" y="962132"/>
                <a:ext cx="1856644" cy="273760"/>
              </a:xfrm>
              <a:prstGeom prst="roundRect">
                <a:avLst>
                  <a:gd name="adj" fmla="val 16667"/>
                </a:avLst>
              </a:prstGeom>
              <a:solidFill>
                <a:srgbClr val="FFFF99"/>
              </a:solidFill>
              <a:ln w="28575">
                <a:solidFill>
                  <a:srgbClr val="0000FF"/>
                </a:solidFill>
                <a:round/>
                <a:headEnd/>
                <a:tailEnd/>
              </a:ln>
              <a:effectLst/>
            </p:spPr>
            <p:txBody>
              <a:bodyPr anchor="ctr"/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ja-JP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>
                      <a:outerShdw blurRad="38100" dist="38100" dir="2700000" algn="tl">
                        <a:srgbClr val="FFFFFF"/>
                      </a:outerShdw>
                    </a:effectLst>
                    <a:uLnTx/>
                    <a:uFillTx/>
                    <a:latin typeface="Calibri"/>
                    <a:ea typeface="ＭＳ Ｐゴシック" panose="020B0600070205080204" pitchFamily="34" charset="-128"/>
                    <a:cs typeface="+mn-cs"/>
                    <a:sym typeface="Wingdings" pitchFamily="2" charset="2"/>
                  </a:rPr>
                  <a:t>Developer: </a:t>
                </a:r>
                <a:r>
                  <a:rPr kumimoji="1" lang="en-US" altLang="ja-JP" dirty="0">
                    <a:solidFill>
                      <a:prstClr val="black"/>
                    </a:solidFill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Calibri"/>
                    <a:ea typeface="ＭＳ Ｐゴシック" panose="020B0600070205080204" pitchFamily="34" charset="-128"/>
                    <a:sym typeface="Wingdings" pitchFamily="2" charset="2"/>
                  </a:rPr>
                  <a:t>ISM team</a:t>
                </a:r>
                <a:endParaRPr kumimoji="1" lang="en-US" altLang="ja-JP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  <a:sym typeface="Wingdings" pitchFamily="2" charset="2"/>
                </a:endParaRPr>
              </a:p>
            </p:txBody>
          </p:sp>
          <p:sp>
            <p:nvSpPr>
              <p:cNvPr id="22" name="AutoShape 6">
                <a:extLst>
                  <a:ext uri="{FF2B5EF4-FFF2-40B4-BE49-F238E27FC236}">
                    <a16:creationId xmlns:a16="http://schemas.microsoft.com/office/drawing/2014/main" id="{ADDF6A9E-3A0C-4018-947B-3D3BD39FF9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45851" y="961572"/>
                <a:ext cx="1037714" cy="274320"/>
              </a:xfrm>
              <a:prstGeom prst="roundRect">
                <a:avLst>
                  <a:gd name="adj" fmla="val 16667"/>
                </a:avLst>
              </a:prstGeom>
              <a:solidFill>
                <a:srgbClr val="FFFF99"/>
              </a:solidFill>
              <a:ln w="28575">
                <a:solidFill>
                  <a:srgbClr val="0000FF"/>
                </a:solidFill>
                <a:round/>
                <a:headEnd/>
                <a:tailEnd/>
              </a:ln>
              <a:effectLst/>
            </p:spPr>
            <p:txBody>
              <a:bodyPr anchor="ctr"/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ja-JP" sz="11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>
                      <a:outerShdw blurRad="38100" dist="38100" dir="2700000" algn="tl">
                        <a:srgbClr val="FFFFFF"/>
                      </a:outerShdw>
                    </a:effectLst>
                    <a:uLnTx/>
                    <a:uFillTx/>
                    <a:latin typeface="Calibri"/>
                    <a:ea typeface="ＭＳ Ｐゴシック" panose="020B0600070205080204" pitchFamily="34" charset="-128"/>
                    <a:cs typeface="+mn-cs"/>
                    <a:sym typeface="Wingdings" pitchFamily="2" charset="2"/>
                  </a:rPr>
                  <a:t>Expense: 0 </a:t>
                </a:r>
                <a:endParaRPr kumimoji="1" lang="en-US" altLang="ja-JP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  <a:sym typeface="Wingdings" pitchFamily="2" charset="2"/>
                </a:endParaRPr>
              </a:p>
            </p:txBody>
          </p:sp>
        </p:grpSp>
        <p:sp>
          <p:nvSpPr>
            <p:cNvPr id="20" name="AutoShape 6">
              <a:extLst>
                <a:ext uri="{FF2B5EF4-FFF2-40B4-BE49-F238E27FC236}">
                  <a16:creationId xmlns:a16="http://schemas.microsoft.com/office/drawing/2014/main" id="{AF45FE8A-7925-45FA-BA93-C22C482756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4601" y="931825"/>
              <a:ext cx="2267269" cy="321492"/>
            </a:xfrm>
            <a:prstGeom prst="roundRect">
              <a:avLst>
                <a:gd name="adj" fmla="val 16667"/>
              </a:avLst>
            </a:prstGeom>
            <a:solidFill>
              <a:srgbClr val="FFFF99"/>
            </a:solidFill>
            <a:ln w="28575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 anchor="ctr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  <a:sym typeface="Wingdings" pitchFamily="2" charset="2"/>
                </a:rPr>
                <a:t>Apply: </a:t>
              </a:r>
              <a:r>
                <a:rPr kumimoji="1" lang="en-US" altLang="ja-JP">
                  <a:solidFill>
                    <a:prstClr val="black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Calibri"/>
                  <a:ea typeface="ＭＳ Ｐゴシック" panose="020B0600070205080204" pitchFamily="34" charset="-128"/>
                  <a:sym typeface="Wingdings" pitchFamily="2" charset="2"/>
                </a:rPr>
                <a:t>Jun,</a:t>
              </a:r>
              <a:r>
                <a:rPr kumimoji="1" lang="en-US" altLang="ja-JP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  <a:sym typeface="Wingdings" pitchFamily="2" charset="2"/>
                </a:rPr>
                <a:t>2021</a:t>
              </a:r>
              <a:endParaRPr kumimoji="1" lang="en-US" altLang="ja-JP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  <a:sym typeface="Wingdings" pitchFamily="2" charset="2"/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C3C6C2F0-6910-45D0-BC07-194FDAB20AF5}"/>
              </a:ext>
            </a:extLst>
          </p:cNvPr>
          <p:cNvSpPr/>
          <p:nvPr/>
        </p:nvSpPr>
        <p:spPr>
          <a:xfrm>
            <a:off x="974284" y="5192330"/>
            <a:ext cx="260497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2000" b="1">
                <a:solidFill>
                  <a:schemeClr val="bg1"/>
                </a:solidFill>
              </a:rPr>
              <a:t>Delete manually</a:t>
            </a:r>
            <a:endParaRPr lang="en-US" sz="2000" b="1">
              <a:solidFill>
                <a:schemeClr val="bg1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322C504-A3BD-476A-BB60-2CBE36348D72}"/>
              </a:ext>
            </a:extLst>
          </p:cNvPr>
          <p:cNvGrpSpPr/>
          <p:nvPr/>
        </p:nvGrpSpPr>
        <p:grpSpPr>
          <a:xfrm>
            <a:off x="35368" y="501724"/>
            <a:ext cx="9055998" cy="751685"/>
            <a:chOff x="35368" y="501724"/>
            <a:chExt cx="9055998" cy="751685"/>
          </a:xfrm>
        </p:grpSpPr>
        <p:sp>
          <p:nvSpPr>
            <p:cNvPr id="44" name="Rectangle 4">
              <a:extLst>
                <a:ext uri="{FF2B5EF4-FFF2-40B4-BE49-F238E27FC236}">
                  <a16:creationId xmlns:a16="http://schemas.microsoft.com/office/drawing/2014/main" id="{08A65B3F-E5CA-49E9-BA5C-3745844175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68" y="501724"/>
              <a:ext cx="9055998" cy="390641"/>
            </a:xfrm>
            <a:prstGeom prst="rect">
              <a:avLst/>
            </a:prstGeom>
            <a:gradFill rotWithShape="1">
              <a:gsLst>
                <a:gs pos="0">
                  <a:srgbClr val="FFFF99"/>
                </a:gs>
                <a:gs pos="50000">
                  <a:schemeClr val="bg1"/>
                </a:gs>
                <a:gs pos="100000">
                  <a:srgbClr val="FFFF99"/>
                </a:gs>
              </a:gsLst>
              <a:lin ang="2700000" scaled="1"/>
            </a:gra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Font typeface="Wingdings" pitchFamily="2" charset="2"/>
                <a:buChar char="Ø"/>
                <a:defRPr b="1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Font typeface="Wingdings" pitchFamily="2" charset="2"/>
                <a:buChar char="Ø"/>
                <a:defRPr b="1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Font typeface="Wingdings" pitchFamily="2" charset="2"/>
                <a:buChar char="Ø"/>
                <a:defRPr b="1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Font typeface="Wingdings" pitchFamily="2" charset="2"/>
                <a:buChar char="Ø"/>
                <a:defRPr b="1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>
                <a:spcBef>
                  <a:spcPct val="20000"/>
                </a:spcBef>
                <a:defRPr/>
              </a:pPr>
              <a:r>
                <a:rPr lang="en-US" altLang="ja-JP" sz="1400" dirty="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Transfer password security for ISM leader of each department &amp; change procedure for change PC layout</a:t>
              </a:r>
              <a:endParaRPr lang="en-US" sz="1400" dirty="0">
                <a:solidFill>
                  <a:srgbClr val="0000FF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1" name="AutoShape 6">
              <a:extLst>
                <a:ext uri="{FF2B5EF4-FFF2-40B4-BE49-F238E27FC236}">
                  <a16:creationId xmlns:a16="http://schemas.microsoft.com/office/drawing/2014/main" id="{7E28BD8B-8580-47C2-BB79-E8BF1FA109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04596" y="932872"/>
              <a:ext cx="2886770" cy="320537"/>
            </a:xfrm>
            <a:prstGeom prst="roundRect">
              <a:avLst>
                <a:gd name="adj" fmla="val 16667"/>
              </a:avLst>
            </a:prstGeom>
            <a:solidFill>
              <a:srgbClr val="FFFF99"/>
            </a:solidFill>
            <a:ln w="28575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 anchor="ctr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r">
                <a:spcBef>
                  <a:spcPct val="20000"/>
                </a:spcBef>
              </a:pPr>
              <a:r>
                <a:rPr kumimoji="1" lang="en-GB" altLang="ja-JP" sz="1400" b="1" dirty="0">
                  <a:solidFill>
                    <a:srgbClr val="00CC00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  <a:sym typeface="Wingdings" pitchFamily="2" charset="2"/>
                </a:rPr>
                <a:t>Save : </a:t>
              </a:r>
              <a:r>
                <a:rPr kumimoji="1" lang="en-US" sz="1400" b="1" dirty="0">
                  <a:solidFill>
                    <a:srgbClr val="00CC00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panose="020B0604020202020204" pitchFamily="34" charset="0"/>
                  <a:ea typeface="ＭＳ Ｐゴシック" panose="020B0600070205080204" pitchFamily="34" charset="-128"/>
                  <a:cs typeface="Arial" panose="020B0604020202020204" pitchFamily="34" charset="0"/>
                  <a:sym typeface="Wingdings" panose="05000000000000000000" pitchFamily="2" charset="2"/>
                </a:rPr>
                <a:t>$2.9K$/Y</a:t>
              </a:r>
              <a:endParaRPr kumimoji="1" lang="en-US" altLang="ja-JP" sz="1400" b="1" dirty="0">
                <a:solidFill>
                  <a:srgbClr val="00CC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34" name="Rectangle 33">
            <a:extLst>
              <a:ext uri="{FF2B5EF4-FFF2-40B4-BE49-F238E27FC236}">
                <a16:creationId xmlns:a16="http://schemas.microsoft.com/office/drawing/2014/main" id="{D4CC3EF0-59DB-49ED-AAE2-E8EFB0DADA23}"/>
              </a:ext>
            </a:extLst>
          </p:cNvPr>
          <p:cNvSpPr/>
          <p:nvPr/>
        </p:nvSpPr>
        <p:spPr>
          <a:xfrm>
            <a:off x="1766914" y="2524994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Issue</a:t>
            </a:r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D91CFC8D-849A-46C8-AC9B-1F56BF254CC9}"/>
              </a:ext>
            </a:extLst>
          </p:cNvPr>
          <p:cNvPicPr>
            <a:picLocks noChangeAspect="1" noChangeArrowheads="1"/>
            <a:extLst>
              <a:ext uri="{84589F7E-364E-4C9E-8A38-B11213B215E9}">
                <a14:cameraTool xmlns:a14="http://schemas.microsoft.com/office/drawing/2010/main" cellRange="$C$5:$E$13"/>
              </a:ext>
            </a:extLst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92048" y="1963385"/>
            <a:ext cx="4151351" cy="3627394"/>
          </a:xfrm>
          <a:prstGeom prst="rect">
            <a:avLst/>
          </a:prstGeom>
          <a:solidFill>
            <a:srgbClr xmlns:mc="http://schemas.openxmlformats.org/markup-compatibility/2006" xmlns:a14="http://schemas.microsoft.com/office/drawing/2010/main" val="FFFFFF" mc:Ignorable="a14" a14:legacySpreadsheetColorIndex="9"/>
          </a:solidFill>
          <a:ln w="9525">
            <a:solidFill>
              <a:srgbClr xmlns:mc="http://schemas.openxmlformats.org/markup-compatibility/2006" xmlns:a14="http://schemas.microsoft.com/office/drawing/2010/main" val="000000" mc:Ignorable="a14" a14:legacySpreadsheetColorIndex="64"/>
            </a:solidFill>
            <a:miter lim="800000"/>
            <a:headEnd/>
            <a:tailEnd/>
          </a:ln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BAAB390C-0396-40A8-8EA8-6F1AD1FFFB97}"/>
              </a:ext>
            </a:extLst>
          </p:cNvPr>
          <p:cNvPicPr>
            <a:picLocks noChangeAspect="1" noChangeArrowheads="1"/>
            <a:extLst>
              <a:ext uri="{84589F7E-364E-4C9E-8A38-B11213B215E9}">
                <a14:cameraTool xmlns:a14="http://schemas.microsoft.com/office/drawing/2010/main" cellRange="$C$5:$E$13"/>
              </a:ext>
            </a:extLst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696599" y="1963385"/>
            <a:ext cx="4151351" cy="3627394"/>
          </a:xfrm>
          <a:prstGeom prst="rect">
            <a:avLst/>
          </a:prstGeom>
          <a:solidFill>
            <a:srgbClr xmlns:mc="http://schemas.openxmlformats.org/markup-compatibility/2006" xmlns:a14="http://schemas.microsoft.com/office/drawing/2010/main" val="FFFFFF" mc:Ignorable="a14" a14:legacySpreadsheetColorIndex="9"/>
          </a:solidFill>
          <a:ln w="9525">
            <a:solidFill>
              <a:srgbClr xmlns:mc="http://schemas.openxmlformats.org/markup-compatibility/2006" xmlns:a14="http://schemas.microsoft.com/office/drawing/2010/main" val="000000" mc:Ignorable="a14" a14:legacySpreadsheetColorIndex="64"/>
            </a:solidFill>
            <a:miter lim="800000"/>
            <a:headEnd/>
            <a:tailEnd/>
          </a:ln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770A058-A142-4DCA-ACB9-6D7FA0132927}"/>
              </a:ext>
            </a:extLst>
          </p:cNvPr>
          <p:cNvCxnSpPr/>
          <p:nvPr/>
        </p:nvCxnSpPr>
        <p:spPr>
          <a:xfrm>
            <a:off x="4876800" y="2590800"/>
            <a:ext cx="3707923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625632E7-DDD9-4A8D-A341-1DEAAFBABE6E}"/>
              </a:ext>
            </a:extLst>
          </p:cNvPr>
          <p:cNvCxnSpPr/>
          <p:nvPr/>
        </p:nvCxnSpPr>
        <p:spPr>
          <a:xfrm>
            <a:off x="4949146" y="2971800"/>
            <a:ext cx="3707923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A5634112-A817-4043-8D90-2D79AC164C19}"/>
              </a:ext>
            </a:extLst>
          </p:cNvPr>
          <p:cNvCxnSpPr/>
          <p:nvPr/>
        </p:nvCxnSpPr>
        <p:spPr>
          <a:xfrm>
            <a:off x="4876799" y="3418114"/>
            <a:ext cx="3707923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75FBC2C-8CD0-4405-944F-477F8DF12F0B}"/>
              </a:ext>
            </a:extLst>
          </p:cNvPr>
          <p:cNvCxnSpPr/>
          <p:nvPr/>
        </p:nvCxnSpPr>
        <p:spPr>
          <a:xfrm>
            <a:off x="4876799" y="3777082"/>
            <a:ext cx="3707923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0EF9B55F-C8F3-44E4-B008-B3D7CC14A91E}"/>
              </a:ext>
            </a:extLst>
          </p:cNvPr>
          <p:cNvCxnSpPr/>
          <p:nvPr/>
        </p:nvCxnSpPr>
        <p:spPr>
          <a:xfrm>
            <a:off x="4876799" y="4191000"/>
            <a:ext cx="3707923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60287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AutoShape 2"/>
          <p:cNvSpPr>
            <a:spLocks noChangeArrowheads="1"/>
          </p:cNvSpPr>
          <p:nvPr/>
        </p:nvSpPr>
        <p:spPr bwMode="auto">
          <a:xfrm>
            <a:off x="65818" y="1507240"/>
            <a:ext cx="4353782" cy="4368436"/>
          </a:xfrm>
          <a:prstGeom prst="roundRect">
            <a:avLst>
              <a:gd name="adj" fmla="val 5551"/>
            </a:avLst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endParaRPr lang="ja-JP" altLang="en-US" sz="1100">
              <a:solidFill>
                <a:prstClr val="black"/>
              </a:solidFill>
            </a:endParaRPr>
          </a:p>
        </p:txBody>
      </p:sp>
      <p:sp>
        <p:nvSpPr>
          <p:cNvPr id="10" name="Text Box 4"/>
          <p:cNvSpPr txBox="1">
            <a:spLocks noChangeArrowheads="1"/>
          </p:cNvSpPr>
          <p:nvPr/>
        </p:nvSpPr>
        <p:spPr bwMode="auto">
          <a:xfrm>
            <a:off x="1089755" y="1315893"/>
            <a:ext cx="2305050" cy="425450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outerShdw dist="107763" dir="189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0"/>
              </a:spcBef>
              <a:defRPr/>
            </a:pPr>
            <a:r>
              <a:rPr kumimoji="1" lang="en-US" altLang="ja-JP" sz="2000" dirty="0">
                <a:solidFill>
                  <a:prstClr val="white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ＭＳ Ｐゴシック" pitchFamily="34" charset="-128"/>
              </a:rPr>
              <a:t>◆</a:t>
            </a:r>
            <a:r>
              <a:rPr kumimoji="1" lang="en-US" altLang="ja-JP" sz="2000" dirty="0">
                <a:solidFill>
                  <a:prstClr val="white"/>
                </a:solidFill>
                <a:latin typeface="ＭＳ Ｐゴシック" pitchFamily="34" charset="-128"/>
              </a:rPr>
              <a:t>Before</a:t>
            </a:r>
          </a:p>
        </p:txBody>
      </p:sp>
      <p:sp>
        <p:nvSpPr>
          <p:cNvPr id="66" name="AutoShape 3"/>
          <p:cNvSpPr>
            <a:spLocks noChangeArrowheads="1"/>
          </p:cNvSpPr>
          <p:nvPr/>
        </p:nvSpPr>
        <p:spPr bwMode="auto">
          <a:xfrm>
            <a:off x="4501666" y="1514482"/>
            <a:ext cx="4576516" cy="4362086"/>
          </a:xfrm>
          <a:prstGeom prst="roundRect">
            <a:avLst>
              <a:gd name="adj" fmla="val 5551"/>
            </a:avLst>
          </a:prstGeom>
          <a:noFill/>
          <a:ln w="2857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endParaRPr lang="ja-JP" altLang="en-US" sz="1100">
              <a:solidFill>
                <a:prstClr val="black"/>
              </a:solidFill>
            </a:endParaRPr>
          </a:p>
        </p:txBody>
      </p:sp>
      <p:sp>
        <p:nvSpPr>
          <p:cNvPr id="67" name="Text Box 5"/>
          <p:cNvSpPr txBox="1">
            <a:spLocks noChangeArrowheads="1"/>
          </p:cNvSpPr>
          <p:nvPr/>
        </p:nvSpPr>
        <p:spPr bwMode="auto">
          <a:xfrm>
            <a:off x="5619750" y="1315893"/>
            <a:ext cx="2305050" cy="425450"/>
          </a:xfrm>
          <a:prstGeom prst="rect">
            <a:avLst/>
          </a:prstGeom>
          <a:solidFill>
            <a:srgbClr val="0000FF"/>
          </a:solidFill>
          <a:ln>
            <a:noFill/>
          </a:ln>
          <a:effectLst>
            <a:outerShdw dist="107763" dir="18900000" algn="ctr" rotWithShape="0">
              <a:schemeClr val="bg2">
                <a:alpha val="50000"/>
              </a:schemeClr>
            </a:outerShdw>
          </a:effectLst>
        </p:spPr>
        <p:txBody>
          <a:bodyPr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0"/>
              </a:spcBef>
              <a:defRPr/>
            </a:pPr>
            <a:r>
              <a:rPr kumimoji="1" lang="en-US" altLang="ja-JP" sz="2000" dirty="0">
                <a:solidFill>
                  <a:prstClr val="white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ＭＳ Ｐゴシック" pitchFamily="34" charset="-128"/>
              </a:rPr>
              <a:t>◆ </a:t>
            </a:r>
            <a:r>
              <a:rPr kumimoji="1" lang="en-US" altLang="ja-JP" sz="2000" dirty="0">
                <a:solidFill>
                  <a:prstClr val="white"/>
                </a:solidFill>
                <a:latin typeface="ＭＳ Ｐゴシック" pitchFamily="34" charset="-128"/>
              </a:rPr>
              <a:t>After </a:t>
            </a:r>
            <a:endParaRPr kumimoji="1" lang="en-US" altLang="ja-JP" sz="2000" dirty="0">
              <a:solidFill>
                <a:prstClr val="white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ＭＳ Ｐゴシック" pitchFamily="34" charset="-128"/>
            </a:endParaRPr>
          </a:p>
        </p:txBody>
      </p:sp>
      <p:sp>
        <p:nvSpPr>
          <p:cNvPr id="115" name="AutoShape 6"/>
          <p:cNvSpPr>
            <a:spLocks noChangeArrowheads="1"/>
          </p:cNvSpPr>
          <p:nvPr/>
        </p:nvSpPr>
        <p:spPr bwMode="auto">
          <a:xfrm>
            <a:off x="76201" y="5918693"/>
            <a:ext cx="4353782" cy="872632"/>
          </a:xfrm>
          <a:prstGeom prst="roundRect">
            <a:avLst>
              <a:gd name="adj" fmla="val 16667"/>
            </a:avLst>
          </a:prstGeom>
          <a:solidFill>
            <a:srgbClr val="FFFF99"/>
          </a:solidFill>
          <a:ln w="28575">
            <a:solidFill>
              <a:srgbClr val="FF0000"/>
            </a:solidFill>
            <a:round/>
            <a:headEnd/>
            <a:tailEnd/>
          </a:ln>
        </p:spPr>
        <p:txBody>
          <a:bodyPr anchor="ctr"/>
          <a:lstStyle/>
          <a:p>
            <a:pPr eaLnBrk="0" hangingPunct="0">
              <a:spcBef>
                <a:spcPct val="20000"/>
              </a:spcBef>
            </a:pPr>
            <a:r>
              <a:rPr lang="en-GB" altLang="ja-JP" sz="1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Lost time: </a:t>
            </a:r>
            <a:r>
              <a:rPr lang="en-GB" altLang="ja-JP" sz="1400" b="1" dirty="0">
                <a:solidFill>
                  <a:srgbClr val="1717F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 day*3h*12time = 108h/Y</a:t>
            </a:r>
          </a:p>
        </p:txBody>
      </p:sp>
      <p:sp>
        <p:nvSpPr>
          <p:cNvPr id="116" name="AutoShape 6"/>
          <p:cNvSpPr>
            <a:spLocks noChangeArrowheads="1"/>
          </p:cNvSpPr>
          <p:nvPr/>
        </p:nvSpPr>
        <p:spPr bwMode="auto">
          <a:xfrm>
            <a:off x="4514850" y="5920619"/>
            <a:ext cx="4552950" cy="872632"/>
          </a:xfrm>
          <a:prstGeom prst="roundRect">
            <a:avLst>
              <a:gd name="adj" fmla="val 16667"/>
            </a:avLst>
          </a:prstGeom>
          <a:solidFill>
            <a:srgbClr val="FFFF99"/>
          </a:solidFill>
          <a:ln w="28575">
            <a:solidFill>
              <a:srgbClr val="0000FF"/>
            </a:solidFill>
            <a:round/>
            <a:headEnd/>
            <a:tailEnd/>
          </a:ln>
        </p:spPr>
        <p:txBody>
          <a:bodyPr anchor="ctr"/>
          <a:lstStyle>
            <a:lvl1pPr marL="285750" indent="-285750" eaLnBrk="0" hangingPunct="0">
              <a:defRPr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eaLnBrk="0" hangingPunct="0">
              <a:defRPr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eaLnBrk="0" hangingPunct="0">
              <a:defRPr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eaLnBrk="0" hangingPunct="0">
              <a:defRPr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eaLnBrk="0" hangingPunct="0">
              <a:defRPr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eaLnBrk="0" fontAlgn="base" hangingPunct="0">
              <a:spcBef>
                <a:spcPct val="50000"/>
              </a:spcBef>
              <a:spcAft>
                <a:spcPct val="0"/>
              </a:spcAft>
              <a:buFont typeface="Wingdings" pitchFamily="2" charset="2"/>
              <a:buChar char="Ø"/>
              <a:defRPr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eaLnBrk="0" fontAlgn="base" hangingPunct="0">
              <a:spcBef>
                <a:spcPct val="50000"/>
              </a:spcBef>
              <a:spcAft>
                <a:spcPct val="0"/>
              </a:spcAft>
              <a:buFont typeface="Wingdings" pitchFamily="2" charset="2"/>
              <a:buChar char="Ø"/>
              <a:defRPr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eaLnBrk="0" fontAlgn="base" hangingPunct="0">
              <a:spcBef>
                <a:spcPct val="50000"/>
              </a:spcBef>
              <a:spcAft>
                <a:spcPct val="0"/>
              </a:spcAft>
              <a:buFont typeface="Wingdings" pitchFamily="2" charset="2"/>
              <a:buChar char="Ø"/>
              <a:defRPr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eaLnBrk="0" fontAlgn="base" hangingPunct="0">
              <a:spcBef>
                <a:spcPct val="50000"/>
              </a:spcBef>
              <a:spcAft>
                <a:spcPct val="0"/>
              </a:spcAft>
              <a:buFont typeface="Wingdings" pitchFamily="2" charset="2"/>
              <a:buChar char="Ø"/>
              <a:defRPr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indent="0">
              <a:spcBef>
                <a:spcPct val="20000"/>
              </a:spcBef>
            </a:pPr>
            <a:endParaRPr lang="en-GB" sz="1400" dirty="0">
              <a:solidFill>
                <a:srgbClr val="0000FF"/>
              </a:solidFill>
            </a:endParaRPr>
          </a:p>
          <a:p>
            <a:pPr marL="0" indent="0">
              <a:spcBef>
                <a:spcPct val="20000"/>
              </a:spcBef>
            </a:pPr>
            <a:r>
              <a:rPr lang="en-GB" sz="1400" dirty="0">
                <a:solidFill>
                  <a:srgbClr val="0000FF"/>
                </a:solidFill>
              </a:rPr>
              <a:t>Save time:</a:t>
            </a:r>
            <a:r>
              <a:rPr lang="en-GB" altLang="ja-JP" sz="1400" dirty="0">
                <a:solidFill>
                  <a:srgbClr val="1717F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3 day*2h*12time = 72h/Y = 0.3K$/Y</a:t>
            </a:r>
            <a:endParaRPr lang="en-GB" altLang="ja-JP" sz="14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spcBef>
                <a:spcPct val="20000"/>
              </a:spcBef>
            </a:pPr>
            <a:endParaRPr lang="en-US" sz="1400" dirty="0">
              <a:solidFill>
                <a:srgbClr val="0000FF"/>
              </a:solidFill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76201" y="922392"/>
            <a:ext cx="9015166" cy="321492"/>
            <a:chOff x="2132003" y="961572"/>
            <a:chExt cx="6959364" cy="274320"/>
          </a:xfrm>
        </p:grpSpPr>
        <p:sp>
          <p:nvSpPr>
            <p:cNvPr id="25" name="AutoShape 6"/>
            <p:cNvSpPr>
              <a:spLocks noChangeArrowheads="1"/>
            </p:cNvSpPr>
            <p:nvPr/>
          </p:nvSpPr>
          <p:spPr bwMode="auto">
            <a:xfrm>
              <a:off x="2132003" y="962132"/>
              <a:ext cx="2176468" cy="273760"/>
            </a:xfrm>
            <a:prstGeom prst="roundRect">
              <a:avLst>
                <a:gd name="adj" fmla="val 16667"/>
              </a:avLst>
            </a:prstGeom>
            <a:solidFill>
              <a:srgbClr val="FFFF99"/>
            </a:solidFill>
            <a:ln w="28575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 anchor="ctr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kumimoji="1" lang="en-US" altLang="ja-JP" dirty="0">
                  <a:solidFill>
                    <a:prstClr val="black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sym typeface="Wingdings" pitchFamily="2" charset="2"/>
                </a:rPr>
                <a:t>Developer: LE THI HAI</a:t>
              </a:r>
            </a:p>
          </p:txBody>
        </p:sp>
        <p:sp>
          <p:nvSpPr>
            <p:cNvPr id="28" name="AutoShape 6"/>
            <p:cNvSpPr>
              <a:spLocks noChangeArrowheads="1"/>
            </p:cNvSpPr>
            <p:nvPr/>
          </p:nvSpPr>
          <p:spPr bwMode="auto">
            <a:xfrm>
              <a:off x="5798877" y="962132"/>
              <a:ext cx="932118" cy="273760"/>
            </a:xfrm>
            <a:prstGeom prst="roundRect">
              <a:avLst>
                <a:gd name="adj" fmla="val 16667"/>
              </a:avLst>
            </a:prstGeom>
            <a:solidFill>
              <a:srgbClr val="FFFF99"/>
            </a:solidFill>
            <a:ln w="28575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 anchor="ctr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kumimoji="1" lang="en-US" altLang="ja-JP" dirty="0" err="1">
                  <a:solidFill>
                    <a:prstClr val="black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sym typeface="Wingdings" pitchFamily="2" charset="2"/>
                </a:rPr>
                <a:t>Expn</a:t>
              </a:r>
              <a:r>
                <a:rPr kumimoji="1" lang="en-US" altLang="ja-JP" dirty="0">
                  <a:solidFill>
                    <a:prstClr val="black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sym typeface="Wingdings" pitchFamily="2" charset="2"/>
                </a:rPr>
                <a:t>:</a:t>
              </a:r>
            </a:p>
          </p:txBody>
        </p:sp>
        <p:sp>
          <p:nvSpPr>
            <p:cNvPr id="33" name="AutoShape 6"/>
            <p:cNvSpPr>
              <a:spLocks noChangeArrowheads="1"/>
            </p:cNvSpPr>
            <p:nvPr/>
          </p:nvSpPr>
          <p:spPr bwMode="auto">
            <a:xfrm>
              <a:off x="6809636" y="961572"/>
              <a:ext cx="2281731" cy="273505"/>
            </a:xfrm>
            <a:prstGeom prst="roundRect">
              <a:avLst>
                <a:gd name="adj" fmla="val 16667"/>
              </a:avLst>
            </a:prstGeom>
            <a:solidFill>
              <a:srgbClr val="FFFF99"/>
            </a:solidFill>
            <a:ln w="28575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 anchor="ctr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lvl="0" algn="r">
                <a:spcBef>
                  <a:spcPct val="20000"/>
                </a:spcBef>
              </a:pPr>
              <a:r>
                <a:rPr kumimoji="1" lang="en-US" altLang="ja-JP" sz="1600" b="1" dirty="0">
                  <a:solidFill>
                    <a:srgbClr val="00CC00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sym typeface="Wingdings" pitchFamily="2" charset="2"/>
                </a:rPr>
                <a:t>Saving: 0.3K$/Y</a:t>
              </a:r>
              <a:endParaRPr lang="en-US" altLang="ja-JP" sz="1500" b="1" dirty="0">
                <a:solidFill>
                  <a:srgbClr val="00CC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40" name="AutoShape 6">
            <a:extLst>
              <a:ext uri="{FF2B5EF4-FFF2-40B4-BE49-F238E27FC236}">
                <a16:creationId xmlns:a16="http://schemas.microsoft.com/office/drawing/2014/main" id="{EBCE3F76-00F8-4CFE-AC84-CD75B33A81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12531" y="922392"/>
            <a:ext cx="1711870" cy="321492"/>
          </a:xfrm>
          <a:prstGeom prst="roundRect">
            <a:avLst>
              <a:gd name="adj" fmla="val 16667"/>
            </a:avLst>
          </a:prstGeom>
          <a:solidFill>
            <a:srgbClr val="FFFF99"/>
          </a:solidFill>
          <a:ln w="28575">
            <a:solidFill>
              <a:srgbClr val="0000FF"/>
            </a:solidFill>
            <a:round/>
            <a:headEnd/>
            <a:tailEnd/>
          </a:ln>
          <a:effectLst/>
        </p:spPr>
        <p:txBody>
          <a:bodyPr anchor="ctr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kumimoji="1" lang="en-US" altLang="ja-JP" dirty="0">
                <a:solidFill>
                  <a:prstClr val="black"/>
                </a:solidFill>
                <a:effectLst>
                  <a:outerShdw blurRad="38100" dist="38100" dir="2700000" algn="tl">
                    <a:srgbClr val="FFFFFF"/>
                  </a:outerShdw>
                </a:effectLst>
                <a:sym typeface="Wingdings" pitchFamily="2" charset="2"/>
              </a:rPr>
              <a:t>Apply: Jun, 2021</a:t>
            </a:r>
          </a:p>
        </p:txBody>
      </p:sp>
      <p:sp>
        <p:nvSpPr>
          <p:cNvPr id="42" name="Text Box 2">
            <a:extLst>
              <a:ext uri="{FF2B5EF4-FFF2-40B4-BE49-F238E27FC236}">
                <a16:creationId xmlns:a16="http://schemas.microsoft.com/office/drawing/2014/main" id="{C56CF688-0247-4393-B600-439F24E4C8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198" y="36563"/>
            <a:ext cx="9023702" cy="421508"/>
          </a:xfrm>
          <a:prstGeom prst="rect">
            <a:avLst/>
          </a:prstGeom>
          <a:solidFill>
            <a:srgbClr val="0000B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40069" tIns="20035" rIns="40069" bIns="20035" anchor="ctr" anchorCtr="1"/>
          <a:lstStyle>
            <a:defPPr>
              <a:defRPr lang="en-US"/>
            </a:defPPr>
            <a:lvl1pPr>
              <a:lnSpc>
                <a:spcPct val="90000"/>
              </a:lnSpc>
              <a:defRPr sz="2000" b="1" cap="all">
                <a:solidFill>
                  <a:prstClr val="white">
                    <a:lumMod val="9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 altLang="ja-JP" dirty="0"/>
              <a:t>Control of SCRAPS &amp; LOT NO</a:t>
            </a:r>
            <a:endParaRPr lang="en-US" altLang="ja-JP" dirty="0"/>
          </a:p>
        </p:txBody>
      </p:sp>
      <p:sp>
        <p:nvSpPr>
          <p:cNvPr id="43" name="Rectangle 59">
            <a:extLst>
              <a:ext uri="{FF2B5EF4-FFF2-40B4-BE49-F238E27FC236}">
                <a16:creationId xmlns:a16="http://schemas.microsoft.com/office/drawing/2014/main" id="{CCB57E51-4993-4A8A-A19D-CCD70B3ADC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49058" y="123641"/>
            <a:ext cx="871330" cy="271154"/>
          </a:xfrm>
          <a:prstGeom prst="rect">
            <a:avLst/>
          </a:prstGeom>
          <a:solidFill>
            <a:srgbClr val="000099"/>
          </a:solidFill>
          <a:ln w="2857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vi-VN" sz="1400" b="1" dirty="0">
                <a:solidFill>
                  <a:srgbClr val="FFFFFF"/>
                </a:solidFill>
              </a:rPr>
              <a:t>5/5</a:t>
            </a:r>
            <a:endParaRPr lang="en-US" altLang="vi-VN" sz="1400" b="1" dirty="0">
              <a:solidFill>
                <a:srgbClr val="FFFFFF"/>
              </a:solidFill>
            </a:endParaRPr>
          </a:p>
        </p:txBody>
      </p:sp>
      <p:sp>
        <p:nvSpPr>
          <p:cNvPr id="44" name="Rectangle 4">
            <a:extLst>
              <a:ext uri="{FF2B5EF4-FFF2-40B4-BE49-F238E27FC236}">
                <a16:creationId xmlns:a16="http://schemas.microsoft.com/office/drawing/2014/main" id="{08A65B3F-E5CA-49E9-BA5C-3745844175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199" y="485319"/>
            <a:ext cx="9015167" cy="390641"/>
          </a:xfrm>
          <a:prstGeom prst="rect">
            <a:avLst/>
          </a:prstGeom>
          <a:gradFill rotWithShape="1">
            <a:gsLst>
              <a:gs pos="0">
                <a:srgbClr val="FFFF99"/>
              </a:gs>
              <a:gs pos="50000">
                <a:schemeClr val="bg1"/>
              </a:gs>
              <a:gs pos="100000">
                <a:srgbClr val="FFFF99"/>
              </a:gs>
            </a:gsLst>
            <a:lin ang="2700000" scaled="1"/>
          </a:gra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Font typeface="Wingdings" pitchFamily="2" charset="2"/>
              <a:buChar char="Ø"/>
              <a:defRPr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Font typeface="Wingdings" pitchFamily="2" charset="2"/>
              <a:buChar char="Ø"/>
              <a:defRPr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Font typeface="Wingdings" pitchFamily="2" charset="2"/>
              <a:buChar char="Ø"/>
              <a:defRPr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Font typeface="Wingdings" pitchFamily="2" charset="2"/>
              <a:buChar char="Ø"/>
              <a:defRPr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ja-JP" sz="1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Check information by excel file=&gt; </a:t>
            </a:r>
            <a:r>
              <a:rPr lang="en-GB" altLang="ja-JP" sz="1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when need scrap the devices</a:t>
            </a:r>
            <a:endParaRPr lang="en-US" altLang="ja-JP" sz="14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417" y="1784360"/>
            <a:ext cx="3895725" cy="291465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8304" y="1911188"/>
            <a:ext cx="4472084" cy="266081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75354" y="4873090"/>
            <a:ext cx="4014787" cy="9144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Not control Lot No of scrap, control scrap list by scan document. </a:t>
            </a:r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4686300" y="4873090"/>
            <a:ext cx="4210050" cy="9144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Control by database</a:t>
            </a:r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4499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973F858C397DE54D9423F8D643250E0F" ma:contentTypeVersion="13" ma:contentTypeDescription="新しいドキュメントを作成します。" ma:contentTypeScope="" ma:versionID="a9aea4af3c49878c30dea797b0452ef3">
  <xsd:schema xmlns:xsd="http://www.w3.org/2001/XMLSchema" xmlns:xs="http://www.w3.org/2001/XMLSchema" xmlns:p="http://schemas.microsoft.com/office/2006/metadata/properties" xmlns:ns3="eac0b448-5034-49ab-ab38-af6095ba48da" xmlns:ns4="c3f29d59-efe7-4d90-80b5-3931792e23e7" targetNamespace="http://schemas.microsoft.com/office/2006/metadata/properties" ma:root="true" ma:fieldsID="ca9db950e70472b336f94f8b502ca090" ns3:_="" ns4:_="">
    <xsd:import namespace="eac0b448-5034-49ab-ab38-af6095ba48da"/>
    <xsd:import namespace="c3f29d59-efe7-4d90-80b5-3931792e23e7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EventHashCode" minOccurs="0"/>
                <xsd:element ref="ns3:MediaServiceGenerationTime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DateTaken" minOccurs="0"/>
                <xsd:element ref="ns3:MediaServiceLocation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ac0b448-5034-49ab-ab38-af6095ba48d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EventHashCode" ma:index="1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3f29d59-efe7-4d90-80b5-3931792e23e7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共有相手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共有相手の詳細情報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共有のヒントのハッシュ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94F3250-C278-4F0A-A3C8-388691A6C6E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B581090-380F-4BAE-A833-AAD003E80E59}">
  <ds:schemaRefs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c3f29d59-efe7-4d90-80b5-3931792e23e7"/>
    <ds:schemaRef ds:uri="eac0b448-5034-49ab-ab38-af6095ba48da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AF830842-4E82-41BF-AF33-F34A70A4F10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ac0b448-5034-49ab-ab38-af6095ba48da"/>
    <ds:schemaRef ds:uri="c3f29d59-efe7-4d90-80b5-3931792e23e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8546</TotalTime>
  <Words>589</Words>
  <Application>Microsoft Office PowerPoint</Application>
  <PresentationFormat>On-screen Show (4:3)</PresentationFormat>
  <Paragraphs>123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HGP創英角ｺﾞｼｯｸUB</vt:lpstr>
      <vt:lpstr>ＭＳ Ｐゴシック</vt:lpstr>
      <vt:lpstr>Arial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PSNV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Chung Nguyen Van</dc:creator>
  <cp:lastModifiedBy>Hien Nguyen Van</cp:lastModifiedBy>
  <cp:revision>1441</cp:revision>
  <cp:lastPrinted>2019-05-27T02:21:44Z</cp:lastPrinted>
  <dcterms:created xsi:type="dcterms:W3CDTF">2015-08-13T02:08:13Z</dcterms:created>
  <dcterms:modified xsi:type="dcterms:W3CDTF">2021-06-24T01:33:20Z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0x010100973F858C397DE54D9423F8D643250E0F</vt:lpwstr>
  </property>
</Properties>
</file>